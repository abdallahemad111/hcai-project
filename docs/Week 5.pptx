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94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7843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A"/>
        </a:solidFill>
        <a:effectLst/>
      </p:bgPr>
    </p:bg>
    <p:spTree>
      <p:nvGrpSpPr>
        <p:cNvPr id="1" name=""/>
        <p:cNvGrpSpPr/>
        <p:nvPr/>
      </p:nvGrpSpPr>
      <p:grpSpPr>
        <a:xfrm>
          <a:off x="0" y="0"/>
          <a:ext cx="0" cy="0"/>
          <a:chOff x="0" y="0"/>
          <a:chExt cx="0" cy="0"/>
        </a:xfrm>
      </p:grpSpPr>
      <p:sp>
        <p:nvSpPr>
          <p:cNvPr id="2" name="Text 0"/>
          <p:cNvSpPr txBox="1"/>
          <p:nvPr/>
        </p:nvSpPr>
        <p:spPr>
          <a:xfrm>
            <a:off x="640080" y="1463040"/>
            <a:ext cx="786384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AI Research Roadmap Agent</a:t>
            </a:r>
            <a:endParaRPr lang="en-US" sz="4000" dirty="0"/>
          </a:p>
        </p:txBody>
      </p:sp>
      <p:sp>
        <p:nvSpPr>
          <p:cNvPr id="3" name="Text 1"/>
          <p:cNvSpPr txBox="1"/>
          <p:nvPr/>
        </p:nvSpPr>
        <p:spPr>
          <a:xfrm>
            <a:off x="640080" y="2377440"/>
            <a:ext cx="7863840" cy="457200"/>
          </a:xfrm>
          <a:prstGeom prst="rect">
            <a:avLst/>
          </a:prstGeom>
          <a:noFill/>
          <a:ln/>
        </p:spPr>
        <p:txBody>
          <a:bodyPr wrap="square" lIns="0" tIns="0" rIns="0" bIns="0" rtlCol="0" anchor="ctr"/>
          <a:lstStyle/>
          <a:p>
            <a:pPr marL="0" indent="0">
              <a:buNone/>
            </a:pPr>
            <a:r>
              <a:rPr lang="en-US" sz="2400" dirty="0">
                <a:solidFill>
                  <a:srgbClr val="9FE1CB"/>
                </a:solidFill>
                <a:latin typeface="Calibri" pitchFamily="34" charset="0"/>
                <a:ea typeface="Calibri" pitchFamily="34" charset="-122"/>
                <a:cs typeface="Calibri" pitchFamily="34" charset="-120"/>
              </a:rPr>
              <a:t>Week 5: Flow And Architecture</a:t>
            </a:r>
            <a:endParaRPr lang="en-US" sz="2400" dirty="0"/>
          </a:p>
        </p:txBody>
      </p:sp>
      <p:sp>
        <p:nvSpPr>
          <p:cNvPr id="4" name="Text 2"/>
          <p:cNvSpPr txBox="1"/>
          <p:nvPr/>
        </p:nvSpPr>
        <p:spPr>
          <a:xfrm>
            <a:off x="640080" y="3108960"/>
            <a:ext cx="786384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Human-AI Interaction Term Project 2026  |  Principle: Explainability</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2263A"/>
                </a:solidFill>
                <a:latin typeface="Cambria" pitchFamily="34" charset="0"/>
                <a:ea typeface="Cambria" pitchFamily="34" charset="-122"/>
                <a:cs typeface="Cambria" pitchFamily="34" charset="-120"/>
              </a:rPr>
              <a:t>Conversation Flow</a:t>
            </a:r>
            <a:endParaRPr lang="en-US" sz="2800" dirty="0"/>
          </a:p>
        </p:txBody>
      </p:sp>
      <p:sp>
        <p:nvSpPr>
          <p:cNvPr id="3" name="Text 1"/>
          <p:cNvSpPr txBox="1"/>
          <p:nvPr/>
        </p:nvSpPr>
        <p:spPr>
          <a:xfrm>
            <a:off x="457200" y="1051560"/>
            <a:ext cx="1828800" cy="685800"/>
          </a:xfrm>
          <a:prstGeom prst="roundRect">
            <a:avLst>
              <a:gd name="adj" fmla="val 10667"/>
            </a:avLst>
          </a:prstGeom>
          <a:solidFill>
            <a:srgbClr val="E1F5EE"/>
          </a:solidFill>
          <a:ln w="12700">
            <a:solidFill>
              <a:srgbClr val="0F6E56"/>
            </a:solidFill>
            <a:prstDash val="solid"/>
          </a:ln>
        </p:spPr>
        <p:txBody>
          <a:bodyPr wrap="square" lIns="38100" tIns="38100" rIns="38100" bIns="38100" rtlCol="0" anchor="ctr"/>
          <a:lstStyle/>
          <a:p>
            <a:pPr marL="0" indent="0" algn="ctr">
              <a:buNone/>
            </a:pPr>
            <a:r>
              <a:rPr lang="en-US" sz="1200" b="1" dirty="0">
                <a:solidFill>
                  <a:srgbClr val="04342C"/>
                </a:solidFill>
                <a:latin typeface="Calibri" pitchFamily="34" charset="0"/>
                <a:ea typeface="Calibri" pitchFamily="34" charset="-122"/>
                <a:cs typeface="Calibri" pitchFamily="34" charset="-120"/>
              </a:rPr>
              <a:t>1. Greeting</a:t>
            </a:r>
            <a:endParaRPr lang="en-US" sz="1200" dirty="0"/>
          </a:p>
          <a:p>
            <a:pPr marL="0" indent="0" algn="ctr">
              <a:buNone/>
            </a:pPr>
            <a:r>
              <a:rPr lang="en-US" sz="1000" dirty="0">
                <a:solidFill>
                  <a:srgbClr val="04342C"/>
                </a:solidFill>
                <a:latin typeface="Calibri" pitchFamily="34" charset="0"/>
                <a:ea typeface="Calibri" pitchFamily="34" charset="-122"/>
                <a:cs typeface="Calibri" pitchFamily="34" charset="-120"/>
              </a:rPr>
              <a:t>Chips: Start · Example · Limits</a:t>
            </a:r>
            <a:endParaRPr lang="en-US" sz="1200" dirty="0"/>
          </a:p>
        </p:txBody>
      </p:sp>
      <p:sp>
        <p:nvSpPr>
          <p:cNvPr id="4" name="Text 2"/>
          <p:cNvSpPr txBox="1"/>
          <p:nvPr/>
        </p:nvSpPr>
        <p:spPr>
          <a:xfrm>
            <a:off x="2560320" y="1051560"/>
            <a:ext cx="1828800" cy="685800"/>
          </a:xfrm>
          <a:prstGeom prst="roundRect">
            <a:avLst>
              <a:gd name="adj" fmla="val 10667"/>
            </a:avLst>
          </a:prstGeom>
          <a:solidFill>
            <a:srgbClr val="E1F5EE"/>
          </a:solidFill>
          <a:ln w="12700">
            <a:solidFill>
              <a:srgbClr val="0F6E56"/>
            </a:solidFill>
            <a:prstDash val="solid"/>
          </a:ln>
        </p:spPr>
        <p:txBody>
          <a:bodyPr wrap="square" lIns="38100" tIns="38100" rIns="38100" bIns="38100" rtlCol="0" anchor="ctr"/>
          <a:lstStyle/>
          <a:p>
            <a:pPr marL="0" indent="0" algn="ctr">
              <a:buNone/>
            </a:pPr>
            <a:r>
              <a:rPr lang="en-US" sz="1200" b="1" dirty="0">
                <a:solidFill>
                  <a:srgbClr val="04342C"/>
                </a:solidFill>
                <a:latin typeface="Calibri" pitchFamily="34" charset="0"/>
                <a:ea typeface="Calibri" pitchFamily="34" charset="-122"/>
                <a:cs typeface="Calibri" pitchFamily="34" charset="-120"/>
              </a:rPr>
              <a:t>2. Profile And Resources</a:t>
            </a:r>
            <a:endParaRPr lang="en-US" sz="1200" dirty="0"/>
          </a:p>
          <a:p>
            <a:pPr marL="0" indent="0" algn="ctr">
              <a:buNone/>
            </a:pPr>
            <a:r>
              <a:rPr lang="en-US" sz="1000" dirty="0">
                <a:solidFill>
                  <a:srgbClr val="04342C"/>
                </a:solidFill>
                <a:latin typeface="Calibri" pitchFamily="34" charset="0"/>
                <a:ea typeface="Calibri" pitchFamily="34" charset="-122"/>
                <a:cs typeface="Calibri" pitchFamily="34" charset="-120"/>
              </a:rPr>
              <a:t>Chips: CS · SC · AI · IS</a:t>
            </a:r>
            <a:endParaRPr lang="en-US" sz="1200" dirty="0"/>
          </a:p>
        </p:txBody>
      </p:sp>
      <p:sp>
        <p:nvSpPr>
          <p:cNvPr id="5" name="Text 3"/>
          <p:cNvSpPr txBox="1"/>
          <p:nvPr/>
        </p:nvSpPr>
        <p:spPr>
          <a:xfrm>
            <a:off x="4663440" y="1051560"/>
            <a:ext cx="1828800" cy="685800"/>
          </a:xfrm>
          <a:prstGeom prst="roundRect">
            <a:avLst>
              <a:gd name="adj" fmla="val 10667"/>
            </a:avLst>
          </a:prstGeom>
          <a:solidFill>
            <a:srgbClr val="E1F5EE"/>
          </a:solidFill>
          <a:ln w="12700">
            <a:solidFill>
              <a:srgbClr val="0F6E56"/>
            </a:solidFill>
            <a:prstDash val="solid"/>
          </a:ln>
        </p:spPr>
        <p:txBody>
          <a:bodyPr wrap="square" lIns="38100" tIns="38100" rIns="38100" bIns="38100" rtlCol="0" anchor="ctr"/>
          <a:lstStyle/>
          <a:p>
            <a:pPr marL="0" indent="0" algn="ctr">
              <a:buNone/>
            </a:pPr>
            <a:r>
              <a:rPr lang="en-US" sz="1200" b="1" dirty="0">
                <a:solidFill>
                  <a:srgbClr val="04342C"/>
                </a:solidFill>
                <a:latin typeface="Calibri" pitchFamily="34" charset="0"/>
                <a:ea typeface="Calibri" pitchFamily="34" charset="-122"/>
                <a:cs typeface="Calibri" pitchFamily="34" charset="-120"/>
              </a:rPr>
              <a:t>3. Retrieve Evidence</a:t>
            </a:r>
            <a:endParaRPr lang="en-US" sz="1200" dirty="0"/>
          </a:p>
          <a:p>
            <a:pPr marL="0" indent="0" algn="ctr">
              <a:buNone/>
            </a:pPr>
            <a:r>
              <a:rPr lang="en-US" sz="1000" dirty="0">
                <a:solidFill>
                  <a:srgbClr val="04342C"/>
                </a:solidFill>
                <a:latin typeface="Calibri" pitchFamily="34" charset="0"/>
                <a:ea typeface="Calibri" pitchFamily="34" charset="-122"/>
                <a:cs typeface="Calibri" pitchFamily="34" charset="-120"/>
              </a:rPr>
              <a:t>Backend search, 32 papers</a:t>
            </a:r>
            <a:endParaRPr lang="en-US" sz="1200" dirty="0"/>
          </a:p>
        </p:txBody>
      </p:sp>
      <p:sp>
        <p:nvSpPr>
          <p:cNvPr id="6" name="Text 4"/>
          <p:cNvSpPr txBox="1"/>
          <p:nvPr/>
        </p:nvSpPr>
        <p:spPr>
          <a:xfrm>
            <a:off x="6766560" y="1051560"/>
            <a:ext cx="1828800" cy="685800"/>
          </a:xfrm>
          <a:prstGeom prst="roundRect">
            <a:avLst>
              <a:gd name="adj" fmla="val 10667"/>
            </a:avLst>
          </a:prstGeom>
          <a:solidFill>
            <a:srgbClr val="E1F5EE"/>
          </a:solidFill>
          <a:ln w="12700">
            <a:solidFill>
              <a:srgbClr val="0F6E56"/>
            </a:solidFill>
            <a:prstDash val="solid"/>
          </a:ln>
        </p:spPr>
        <p:txBody>
          <a:bodyPr wrap="square" lIns="38100" tIns="38100" rIns="38100" bIns="38100" rtlCol="0" anchor="ctr"/>
          <a:lstStyle/>
          <a:p>
            <a:pPr marL="0" indent="0" algn="ctr">
              <a:buNone/>
            </a:pPr>
            <a:r>
              <a:rPr lang="en-US" sz="1200" b="1" dirty="0">
                <a:solidFill>
                  <a:srgbClr val="04342C"/>
                </a:solidFill>
                <a:latin typeface="Calibri" pitchFamily="34" charset="0"/>
                <a:ea typeface="Calibri" pitchFamily="34" charset="-122"/>
                <a:cs typeface="Calibri" pitchFamily="34" charset="-120"/>
              </a:rPr>
              <a:t>4. Choose Direction</a:t>
            </a:r>
            <a:endParaRPr lang="en-US" sz="1200" dirty="0"/>
          </a:p>
          <a:p>
            <a:pPr marL="0" indent="0" algn="ctr">
              <a:buNone/>
            </a:pPr>
            <a:r>
              <a:rPr lang="en-US" sz="1000" dirty="0">
                <a:solidFill>
                  <a:srgbClr val="04342C"/>
                </a:solidFill>
                <a:latin typeface="Calibri" pitchFamily="34" charset="0"/>
                <a:ea typeface="Calibri" pitchFamily="34" charset="-122"/>
                <a:cs typeface="Calibri" pitchFamily="34" charset="-120"/>
              </a:rPr>
              <a:t>Chips: A · B · C · none fits</a:t>
            </a:r>
            <a:endParaRPr lang="en-US" sz="1200" dirty="0"/>
          </a:p>
        </p:txBody>
      </p:sp>
      <p:sp>
        <p:nvSpPr>
          <p:cNvPr id="7" name="Text 5"/>
          <p:cNvSpPr txBox="1"/>
          <p:nvPr/>
        </p:nvSpPr>
        <p:spPr>
          <a:xfrm>
            <a:off x="6766560" y="2240280"/>
            <a:ext cx="1828800" cy="685800"/>
          </a:xfrm>
          <a:prstGeom prst="roundRect">
            <a:avLst>
              <a:gd name="adj" fmla="val 10667"/>
            </a:avLst>
          </a:prstGeom>
          <a:solidFill>
            <a:srgbClr val="E1F5EE"/>
          </a:solidFill>
          <a:ln w="12700">
            <a:solidFill>
              <a:srgbClr val="0F6E56"/>
            </a:solidFill>
            <a:prstDash val="solid"/>
          </a:ln>
        </p:spPr>
        <p:txBody>
          <a:bodyPr wrap="square" lIns="38100" tIns="38100" rIns="38100" bIns="38100" rtlCol="0" anchor="ctr"/>
          <a:lstStyle/>
          <a:p>
            <a:pPr marL="0" indent="0" algn="ctr">
              <a:buNone/>
            </a:pPr>
            <a:r>
              <a:rPr lang="en-US" sz="1200" b="1" dirty="0">
                <a:solidFill>
                  <a:srgbClr val="04342C"/>
                </a:solidFill>
                <a:latin typeface="Calibri" pitchFamily="34" charset="0"/>
                <a:ea typeface="Calibri" pitchFamily="34" charset="-122"/>
                <a:cs typeface="Calibri" pitchFamily="34" charset="-120"/>
              </a:rPr>
              <a:t>5. Challenges And Feasibility</a:t>
            </a:r>
            <a:endParaRPr lang="en-US" sz="1200" dirty="0"/>
          </a:p>
          <a:p>
            <a:pPr marL="0" indent="0" algn="ctr">
              <a:buNone/>
            </a:pPr>
            <a:r>
              <a:rPr lang="en-US" sz="1000" dirty="0">
                <a:solidFill>
                  <a:srgbClr val="04342C"/>
                </a:solidFill>
                <a:latin typeface="Calibri" pitchFamily="34" charset="0"/>
                <a:ea typeface="Calibri" pitchFamily="34" charset="-122"/>
                <a:cs typeface="Calibri" pitchFamily="34" charset="-120"/>
              </a:rPr>
              <a:t>Chips: lighter option · edit</a:t>
            </a:r>
            <a:endParaRPr lang="en-US" sz="1200" dirty="0"/>
          </a:p>
        </p:txBody>
      </p:sp>
      <p:sp>
        <p:nvSpPr>
          <p:cNvPr id="8" name="Text 6"/>
          <p:cNvSpPr txBox="1"/>
          <p:nvPr/>
        </p:nvSpPr>
        <p:spPr>
          <a:xfrm>
            <a:off x="4663440" y="2240280"/>
            <a:ext cx="1828800" cy="685800"/>
          </a:xfrm>
          <a:prstGeom prst="roundRect">
            <a:avLst>
              <a:gd name="adj" fmla="val 10667"/>
            </a:avLst>
          </a:prstGeom>
          <a:solidFill>
            <a:srgbClr val="EEEDFE"/>
          </a:solidFill>
          <a:ln w="25400">
            <a:solidFill>
              <a:srgbClr val="534AB7"/>
            </a:solidFill>
            <a:prstDash val="solid"/>
          </a:ln>
        </p:spPr>
        <p:txBody>
          <a:bodyPr wrap="square" lIns="38100" tIns="38100" rIns="38100" bIns="38100" rtlCol="0" anchor="ctr"/>
          <a:lstStyle/>
          <a:p>
            <a:pPr marL="0" indent="0" algn="ctr">
              <a:buNone/>
            </a:pPr>
            <a:r>
              <a:rPr lang="en-US" sz="1200" b="1" dirty="0">
                <a:solidFill>
                  <a:srgbClr val="26215C"/>
                </a:solidFill>
                <a:latin typeface="Calibri" pitchFamily="34" charset="0"/>
                <a:ea typeface="Calibri" pitchFamily="34" charset="-122"/>
                <a:cs typeface="Calibri" pitchFamily="34" charset="-120"/>
              </a:rPr>
              <a:t>6. Why This?</a:t>
            </a:r>
            <a:endParaRPr lang="en-US" sz="1200" dirty="0"/>
          </a:p>
          <a:p>
            <a:pPr marL="0" indent="0" algn="ctr">
              <a:buNone/>
            </a:pPr>
            <a:r>
              <a:rPr lang="en-US" sz="1000" dirty="0">
                <a:solidFill>
                  <a:srgbClr val="26215C"/>
                </a:solidFill>
                <a:latin typeface="Calibri" pitchFamily="34" charset="0"/>
                <a:ea typeface="Calibri" pitchFamily="34" charset="-122"/>
                <a:cs typeface="Calibri" pitchFamily="34" charset="-120"/>
              </a:rPr>
              <a:t>Reasons computed by Flask</a:t>
            </a:r>
            <a:endParaRPr lang="en-US" sz="1200" dirty="0"/>
          </a:p>
        </p:txBody>
      </p:sp>
      <p:sp>
        <p:nvSpPr>
          <p:cNvPr id="9" name="Text 7"/>
          <p:cNvSpPr txBox="1"/>
          <p:nvPr/>
        </p:nvSpPr>
        <p:spPr>
          <a:xfrm>
            <a:off x="2560320" y="2240280"/>
            <a:ext cx="1828800" cy="685800"/>
          </a:xfrm>
          <a:prstGeom prst="roundRect">
            <a:avLst>
              <a:gd name="adj" fmla="val 10667"/>
            </a:avLst>
          </a:prstGeom>
          <a:solidFill>
            <a:srgbClr val="E1F5EE"/>
          </a:solidFill>
          <a:ln w="12700">
            <a:solidFill>
              <a:srgbClr val="0F6E56"/>
            </a:solidFill>
            <a:prstDash val="solid"/>
          </a:ln>
        </p:spPr>
        <p:txBody>
          <a:bodyPr wrap="square" lIns="38100" tIns="38100" rIns="38100" bIns="38100" rtlCol="0" anchor="ctr"/>
          <a:lstStyle/>
          <a:p>
            <a:pPr marL="0" indent="0" algn="ctr">
              <a:buNone/>
            </a:pPr>
            <a:r>
              <a:rPr lang="en-US" sz="1200" b="1" dirty="0">
                <a:solidFill>
                  <a:srgbClr val="04342C"/>
                </a:solidFill>
                <a:latin typeface="Calibri" pitchFamily="34" charset="0"/>
                <a:ea typeface="Calibri" pitchFamily="34" charset="-122"/>
                <a:cs typeface="Calibri" pitchFamily="34" charset="-120"/>
              </a:rPr>
              <a:t>7. Venues</a:t>
            </a:r>
            <a:endParaRPr lang="en-US" sz="1200" dirty="0"/>
          </a:p>
          <a:p>
            <a:pPr marL="0" indent="0" algn="ctr">
              <a:buNone/>
            </a:pPr>
            <a:r>
              <a:rPr lang="en-US" sz="1000" dirty="0">
                <a:solidFill>
                  <a:srgbClr val="04342C"/>
                </a:solidFill>
                <a:latin typeface="Calibri" pitchFamily="34" charset="0"/>
                <a:ea typeface="Calibri" pitchFamily="34" charset="-122"/>
                <a:cs typeface="Calibri" pitchFamily="34" charset="-120"/>
              </a:rPr>
              <a:t>Fit reason + official link</a:t>
            </a:r>
            <a:endParaRPr lang="en-US" sz="1200" dirty="0"/>
          </a:p>
        </p:txBody>
      </p:sp>
      <p:sp>
        <p:nvSpPr>
          <p:cNvPr id="10" name="Text 8"/>
          <p:cNvSpPr txBox="1"/>
          <p:nvPr/>
        </p:nvSpPr>
        <p:spPr>
          <a:xfrm>
            <a:off x="457200" y="2240280"/>
            <a:ext cx="1828800" cy="685800"/>
          </a:xfrm>
          <a:prstGeom prst="roundRect">
            <a:avLst>
              <a:gd name="adj" fmla="val 10667"/>
            </a:avLst>
          </a:prstGeom>
          <a:solidFill>
            <a:srgbClr val="E1F5EE"/>
          </a:solidFill>
          <a:ln w="12700">
            <a:solidFill>
              <a:srgbClr val="0F6E56"/>
            </a:solidFill>
            <a:prstDash val="solid"/>
          </a:ln>
        </p:spPr>
        <p:txBody>
          <a:bodyPr wrap="square" lIns="38100" tIns="38100" rIns="38100" bIns="38100" rtlCol="0" anchor="ctr"/>
          <a:lstStyle/>
          <a:p>
            <a:pPr marL="0" indent="0" algn="ctr">
              <a:buNone/>
            </a:pPr>
            <a:r>
              <a:rPr lang="en-US" sz="1200" b="1" dirty="0">
                <a:solidFill>
                  <a:srgbClr val="04342C"/>
                </a:solidFill>
                <a:latin typeface="Calibri" pitchFamily="34" charset="0"/>
                <a:ea typeface="Calibri" pitchFamily="34" charset="-122"/>
                <a:cs typeface="Calibri" pitchFamily="34" charset="-120"/>
              </a:rPr>
              <a:t>8. Closure</a:t>
            </a:r>
            <a:endParaRPr lang="en-US" sz="1200" dirty="0"/>
          </a:p>
          <a:p>
            <a:pPr marL="0" indent="0" algn="ctr">
              <a:buNone/>
            </a:pPr>
            <a:r>
              <a:rPr lang="en-US" sz="1000" dirty="0">
                <a:solidFill>
                  <a:srgbClr val="04342C"/>
                </a:solidFill>
                <a:latin typeface="Calibri" pitchFamily="34" charset="0"/>
                <a:ea typeface="Calibri" pitchFamily="34" charset="-122"/>
                <a:cs typeface="Calibri" pitchFamily="34" charset="-120"/>
              </a:rPr>
              <a:t>Chips: Save · Edit · Restart</a:t>
            </a:r>
            <a:endParaRPr lang="en-US" sz="1200" dirty="0"/>
          </a:p>
        </p:txBody>
      </p:sp>
      <p:sp>
        <p:nvSpPr>
          <p:cNvPr id="11" name="Shape 9"/>
          <p:cNvSpPr/>
          <p:nvPr/>
        </p:nvSpPr>
        <p:spPr>
          <a:xfrm>
            <a:off x="2286000" y="1394460"/>
            <a:ext cx="274320" cy="0"/>
          </a:xfrm>
          <a:prstGeom prst="line">
            <a:avLst/>
          </a:prstGeom>
          <a:noFill/>
          <a:ln w="15875">
            <a:solidFill>
              <a:srgbClr val="5F5E5A"/>
            </a:solidFill>
            <a:prstDash val="solid"/>
            <a:tailEnd type="triangle"/>
          </a:ln>
        </p:spPr>
        <p:txBody>
          <a:bodyPr/>
          <a:lstStyle/>
          <a:p>
            <a:endParaRPr lang="en-US"/>
          </a:p>
        </p:txBody>
      </p:sp>
      <p:sp>
        <p:nvSpPr>
          <p:cNvPr id="12" name="Shape 10"/>
          <p:cNvSpPr/>
          <p:nvPr/>
        </p:nvSpPr>
        <p:spPr>
          <a:xfrm>
            <a:off x="4389120" y="1394460"/>
            <a:ext cx="274320" cy="0"/>
          </a:xfrm>
          <a:prstGeom prst="line">
            <a:avLst/>
          </a:prstGeom>
          <a:noFill/>
          <a:ln w="15875">
            <a:solidFill>
              <a:srgbClr val="5F5E5A"/>
            </a:solidFill>
            <a:prstDash val="solid"/>
            <a:tailEnd type="triangle"/>
          </a:ln>
        </p:spPr>
        <p:txBody>
          <a:bodyPr/>
          <a:lstStyle/>
          <a:p>
            <a:endParaRPr lang="en-US"/>
          </a:p>
        </p:txBody>
      </p:sp>
      <p:sp>
        <p:nvSpPr>
          <p:cNvPr id="13" name="Shape 11"/>
          <p:cNvSpPr/>
          <p:nvPr/>
        </p:nvSpPr>
        <p:spPr>
          <a:xfrm>
            <a:off x="6492240" y="1394460"/>
            <a:ext cx="274320" cy="0"/>
          </a:xfrm>
          <a:prstGeom prst="line">
            <a:avLst/>
          </a:prstGeom>
          <a:noFill/>
          <a:ln w="15875">
            <a:solidFill>
              <a:srgbClr val="5F5E5A"/>
            </a:solidFill>
            <a:prstDash val="solid"/>
            <a:tailEnd type="triangle"/>
          </a:ln>
        </p:spPr>
        <p:txBody>
          <a:bodyPr/>
          <a:lstStyle/>
          <a:p>
            <a:endParaRPr lang="en-US"/>
          </a:p>
        </p:txBody>
      </p:sp>
      <p:sp>
        <p:nvSpPr>
          <p:cNvPr id="14" name="Shape 12"/>
          <p:cNvSpPr/>
          <p:nvPr/>
        </p:nvSpPr>
        <p:spPr>
          <a:xfrm>
            <a:off x="7680960" y="1737360"/>
            <a:ext cx="0" cy="502920"/>
          </a:xfrm>
          <a:prstGeom prst="line">
            <a:avLst/>
          </a:prstGeom>
          <a:noFill/>
          <a:ln w="15875">
            <a:solidFill>
              <a:srgbClr val="5F5E5A"/>
            </a:solidFill>
            <a:prstDash val="solid"/>
            <a:tailEnd type="triangle"/>
          </a:ln>
        </p:spPr>
        <p:txBody>
          <a:bodyPr/>
          <a:lstStyle/>
          <a:p>
            <a:endParaRPr lang="en-US"/>
          </a:p>
        </p:txBody>
      </p:sp>
      <p:sp>
        <p:nvSpPr>
          <p:cNvPr id="15" name="Shape 13"/>
          <p:cNvSpPr/>
          <p:nvPr/>
        </p:nvSpPr>
        <p:spPr>
          <a:xfrm flipH="1">
            <a:off x="6492240" y="2583180"/>
            <a:ext cx="274320" cy="0"/>
          </a:xfrm>
          <a:prstGeom prst="line">
            <a:avLst/>
          </a:prstGeom>
          <a:noFill/>
          <a:ln w="15875">
            <a:solidFill>
              <a:srgbClr val="5F5E5A"/>
            </a:solidFill>
            <a:prstDash val="solid"/>
            <a:tailEnd type="triangle"/>
          </a:ln>
        </p:spPr>
        <p:txBody>
          <a:bodyPr/>
          <a:lstStyle/>
          <a:p>
            <a:endParaRPr lang="en-US"/>
          </a:p>
        </p:txBody>
      </p:sp>
      <p:sp>
        <p:nvSpPr>
          <p:cNvPr id="16" name="Shape 14"/>
          <p:cNvSpPr/>
          <p:nvPr/>
        </p:nvSpPr>
        <p:spPr>
          <a:xfrm flipH="1">
            <a:off x="4389120" y="2583180"/>
            <a:ext cx="274320" cy="0"/>
          </a:xfrm>
          <a:prstGeom prst="line">
            <a:avLst/>
          </a:prstGeom>
          <a:noFill/>
          <a:ln w="15875">
            <a:solidFill>
              <a:srgbClr val="5F5E5A"/>
            </a:solidFill>
            <a:prstDash val="solid"/>
            <a:tailEnd type="triangle"/>
          </a:ln>
        </p:spPr>
        <p:txBody>
          <a:bodyPr/>
          <a:lstStyle/>
          <a:p>
            <a:endParaRPr lang="en-US"/>
          </a:p>
        </p:txBody>
      </p:sp>
      <p:sp>
        <p:nvSpPr>
          <p:cNvPr id="17" name="Shape 15"/>
          <p:cNvSpPr/>
          <p:nvPr/>
        </p:nvSpPr>
        <p:spPr>
          <a:xfrm flipH="1">
            <a:off x="2286000" y="2583180"/>
            <a:ext cx="274320" cy="0"/>
          </a:xfrm>
          <a:prstGeom prst="line">
            <a:avLst/>
          </a:prstGeom>
          <a:noFill/>
          <a:ln w="15875">
            <a:solidFill>
              <a:srgbClr val="5F5E5A"/>
            </a:solidFill>
            <a:prstDash val="solid"/>
            <a:tailEnd type="triangle"/>
          </a:ln>
        </p:spPr>
        <p:txBody>
          <a:bodyPr/>
          <a:lstStyle/>
          <a:p>
            <a:endParaRPr lang="en-US"/>
          </a:p>
        </p:txBody>
      </p:sp>
      <p:sp>
        <p:nvSpPr>
          <p:cNvPr id="18" name="Text 16"/>
          <p:cNvSpPr txBox="1"/>
          <p:nvPr/>
        </p:nvSpPr>
        <p:spPr>
          <a:xfrm>
            <a:off x="457200" y="3108960"/>
            <a:ext cx="8229600" cy="274320"/>
          </a:xfrm>
          <a:prstGeom prst="rect">
            <a:avLst/>
          </a:prstGeom>
          <a:noFill/>
          <a:ln/>
        </p:spPr>
        <p:txBody>
          <a:bodyPr wrap="square" lIns="0" tIns="0" rIns="0" bIns="0" rtlCol="0" anchor="ctr"/>
          <a:lstStyle/>
          <a:p>
            <a:pPr marL="0" indent="0">
              <a:buNone/>
            </a:pPr>
            <a:r>
              <a:rPr lang="en-US" sz="1200" b="1" dirty="0">
                <a:solidFill>
                  <a:srgbClr val="712B13"/>
                </a:solidFill>
                <a:latin typeface="Calibri" pitchFamily="34" charset="0"/>
                <a:ea typeface="Calibri" pitchFamily="34" charset="-122"/>
                <a:cs typeface="Calibri" pitchFamily="34" charset="-120"/>
              </a:rPr>
              <a:t>Safety nets (dashed): triggered only when needed</a:t>
            </a:r>
            <a:endParaRPr lang="en-US" sz="1200" dirty="0"/>
          </a:p>
        </p:txBody>
      </p:sp>
      <p:sp>
        <p:nvSpPr>
          <p:cNvPr id="19" name="Text 17"/>
          <p:cNvSpPr txBox="1"/>
          <p:nvPr/>
        </p:nvSpPr>
        <p:spPr>
          <a:xfrm>
            <a:off x="502920" y="3429000"/>
            <a:ext cx="1554480" cy="731520"/>
          </a:xfrm>
          <a:prstGeom prst="roundRect">
            <a:avLst>
              <a:gd name="adj" fmla="val 10000"/>
            </a:avLst>
          </a:prstGeom>
          <a:solidFill>
            <a:srgbClr val="FAECE7"/>
          </a:solidFill>
          <a:ln w="12700">
            <a:solidFill>
              <a:srgbClr val="D85A30"/>
            </a:solidFill>
            <a:prstDash val="dash"/>
          </a:ln>
        </p:spPr>
        <p:txBody>
          <a:bodyPr wrap="square" lIns="38100" tIns="38100" rIns="38100" bIns="38100" rtlCol="0" anchor="ctr"/>
          <a:lstStyle/>
          <a:p>
            <a:pPr marL="0" indent="0" algn="ctr">
              <a:buNone/>
            </a:pPr>
            <a:r>
              <a:rPr lang="en-US" sz="1200" b="1" dirty="0">
                <a:solidFill>
                  <a:srgbClr val="712B13"/>
                </a:solidFill>
                <a:latin typeface="Calibri" pitchFamily="34" charset="0"/>
                <a:ea typeface="Calibri" pitchFamily="34" charset="-122"/>
                <a:cs typeface="Calibri" pitchFamily="34" charset="-120"/>
              </a:rPr>
              <a:t>Unclear Input</a:t>
            </a:r>
            <a:endParaRPr lang="en-US" sz="1200" dirty="0"/>
          </a:p>
          <a:p>
            <a:pPr marL="0" indent="0" algn="ctr">
              <a:buNone/>
            </a:pPr>
            <a:r>
              <a:rPr lang="en-US" sz="1000" dirty="0">
                <a:solidFill>
                  <a:srgbClr val="712B13"/>
                </a:solidFill>
                <a:latin typeface="Calibri" pitchFamily="34" charset="0"/>
                <a:ea typeface="Calibri" pitchFamily="34" charset="-122"/>
                <a:cs typeface="Calibri" pitchFamily="34" charset="-120"/>
              </a:rPr>
              <a:t>Rephrase, then return</a:t>
            </a:r>
            <a:endParaRPr lang="en-US" sz="1200" dirty="0"/>
          </a:p>
        </p:txBody>
      </p:sp>
      <p:sp>
        <p:nvSpPr>
          <p:cNvPr id="20" name="Text 18"/>
          <p:cNvSpPr txBox="1"/>
          <p:nvPr/>
        </p:nvSpPr>
        <p:spPr>
          <a:xfrm>
            <a:off x="2148840" y="3429000"/>
            <a:ext cx="1554480" cy="731520"/>
          </a:xfrm>
          <a:prstGeom prst="roundRect">
            <a:avLst>
              <a:gd name="adj" fmla="val 10000"/>
            </a:avLst>
          </a:prstGeom>
          <a:solidFill>
            <a:srgbClr val="FAECE7"/>
          </a:solidFill>
          <a:ln w="12700">
            <a:solidFill>
              <a:srgbClr val="D85A30"/>
            </a:solidFill>
            <a:prstDash val="dash"/>
          </a:ln>
        </p:spPr>
        <p:txBody>
          <a:bodyPr wrap="square" lIns="38100" tIns="38100" rIns="38100" bIns="38100" rtlCol="0" anchor="ctr"/>
          <a:lstStyle/>
          <a:p>
            <a:pPr marL="0" indent="0" algn="ctr">
              <a:buNone/>
            </a:pPr>
            <a:r>
              <a:rPr lang="en-US" sz="1200" b="1" dirty="0">
                <a:solidFill>
                  <a:srgbClr val="712B13"/>
                </a:solidFill>
                <a:latin typeface="Calibri" pitchFamily="34" charset="0"/>
                <a:ea typeface="Calibri" pitchFamily="34" charset="-122"/>
                <a:cs typeface="Calibri" pitchFamily="34" charset="-120"/>
              </a:rPr>
              <a:t>Fallback Message</a:t>
            </a:r>
            <a:endParaRPr lang="en-US" sz="1200" dirty="0"/>
          </a:p>
          <a:p>
            <a:pPr marL="0" indent="0" algn="ctr">
              <a:buNone/>
            </a:pPr>
            <a:r>
              <a:rPr lang="en-US" sz="1000" dirty="0">
                <a:solidFill>
                  <a:srgbClr val="712B13"/>
                </a:solidFill>
                <a:latin typeface="Calibri" pitchFamily="34" charset="0"/>
                <a:ea typeface="Calibri" pitchFamily="34" charset="-122"/>
                <a:cs typeface="Calibri" pitchFamily="34" charset="-120"/>
              </a:rPr>
              <a:t>No guess, offer next steps</a:t>
            </a:r>
            <a:endParaRPr lang="en-US" sz="1200" dirty="0"/>
          </a:p>
        </p:txBody>
      </p:sp>
      <p:sp>
        <p:nvSpPr>
          <p:cNvPr id="21" name="Text 19"/>
          <p:cNvSpPr txBox="1"/>
          <p:nvPr/>
        </p:nvSpPr>
        <p:spPr>
          <a:xfrm>
            <a:off x="3794760" y="3429000"/>
            <a:ext cx="1554480" cy="731520"/>
          </a:xfrm>
          <a:prstGeom prst="roundRect">
            <a:avLst>
              <a:gd name="adj" fmla="val 10000"/>
            </a:avLst>
          </a:prstGeom>
          <a:solidFill>
            <a:srgbClr val="FAECE7"/>
          </a:solidFill>
          <a:ln w="12700">
            <a:solidFill>
              <a:srgbClr val="D85A30"/>
            </a:solidFill>
            <a:prstDash val="dash"/>
          </a:ln>
        </p:spPr>
        <p:txBody>
          <a:bodyPr wrap="square" lIns="38100" tIns="38100" rIns="38100" bIns="38100" rtlCol="0" anchor="ctr"/>
          <a:lstStyle/>
          <a:p>
            <a:pPr marL="0" indent="0" algn="ctr">
              <a:buNone/>
            </a:pPr>
            <a:r>
              <a:rPr lang="en-US" sz="1200" b="1" dirty="0">
                <a:solidFill>
                  <a:srgbClr val="712B13"/>
                </a:solidFill>
                <a:latin typeface="Calibri" pitchFamily="34" charset="0"/>
                <a:ea typeface="Calibri" pitchFamily="34" charset="-122"/>
                <a:cs typeface="Calibri" pitchFamily="34" charset="-120"/>
              </a:rPr>
              <a:t>Go Back Anytime</a:t>
            </a:r>
            <a:endParaRPr lang="en-US" sz="1200" dirty="0"/>
          </a:p>
          <a:p>
            <a:pPr marL="0" indent="0" algn="ctr">
              <a:buNone/>
            </a:pPr>
            <a:r>
              <a:rPr lang="en-US" sz="1000" dirty="0">
                <a:solidFill>
                  <a:srgbClr val="712B13"/>
                </a:solidFill>
                <a:latin typeface="Calibri" pitchFamily="34" charset="0"/>
                <a:ea typeface="Calibri" pitchFamily="34" charset="-122"/>
                <a:cs typeface="Calibri" pitchFamily="34" charset="-120"/>
              </a:rPr>
              <a:t>Back · Edit profile · Undo</a:t>
            </a:r>
            <a:endParaRPr lang="en-US" sz="1200" dirty="0"/>
          </a:p>
        </p:txBody>
      </p:sp>
      <p:sp>
        <p:nvSpPr>
          <p:cNvPr id="22" name="Text 20"/>
          <p:cNvSpPr txBox="1"/>
          <p:nvPr/>
        </p:nvSpPr>
        <p:spPr>
          <a:xfrm>
            <a:off x="5440680" y="3429000"/>
            <a:ext cx="1554480" cy="731520"/>
          </a:xfrm>
          <a:prstGeom prst="roundRect">
            <a:avLst>
              <a:gd name="adj" fmla="val 10000"/>
            </a:avLst>
          </a:prstGeom>
          <a:solidFill>
            <a:srgbClr val="FAECE7"/>
          </a:solidFill>
          <a:ln w="12700">
            <a:solidFill>
              <a:srgbClr val="D85A30"/>
            </a:solidFill>
            <a:prstDash val="dash"/>
          </a:ln>
        </p:spPr>
        <p:txBody>
          <a:bodyPr wrap="square" lIns="38100" tIns="38100" rIns="38100" bIns="38100" rtlCol="0" anchor="ctr"/>
          <a:lstStyle/>
          <a:p>
            <a:pPr marL="0" indent="0" algn="ctr">
              <a:buNone/>
            </a:pPr>
            <a:r>
              <a:rPr lang="en-US" sz="1200" b="1" dirty="0">
                <a:solidFill>
                  <a:srgbClr val="712B13"/>
                </a:solidFill>
                <a:latin typeface="Calibri" pitchFamily="34" charset="0"/>
                <a:ea typeface="Calibri" pitchFamily="34" charset="-122"/>
                <a:cs typeface="Calibri" pitchFamily="34" charset="-120"/>
              </a:rPr>
              <a:t>Model Error </a:t>
            </a:r>
          </a:p>
          <a:p>
            <a:pPr marL="0" indent="0" algn="ctr">
              <a:buNone/>
            </a:pPr>
            <a:r>
              <a:rPr lang="en-US" sz="1200" b="1" dirty="0">
                <a:solidFill>
                  <a:srgbClr val="712B13"/>
                </a:solidFill>
                <a:latin typeface="Calibri" pitchFamily="34" charset="0"/>
                <a:ea typeface="Calibri" pitchFamily="34" charset="-122"/>
                <a:cs typeface="Calibri" pitchFamily="34" charset="-120"/>
              </a:rPr>
              <a:t>Or Timeout</a:t>
            </a:r>
            <a:endParaRPr lang="en-US" sz="1200" dirty="0"/>
          </a:p>
          <a:p>
            <a:pPr marL="0" indent="0" algn="ctr">
              <a:buNone/>
            </a:pPr>
            <a:r>
              <a:rPr lang="en-US" sz="1000" dirty="0">
                <a:solidFill>
                  <a:srgbClr val="712B13"/>
                </a:solidFill>
                <a:latin typeface="Calibri" pitchFamily="34" charset="0"/>
                <a:ea typeface="Calibri" pitchFamily="34" charset="-122"/>
                <a:cs typeface="Calibri" pitchFamily="34" charset="-120"/>
              </a:rPr>
              <a:t>Stored reasons, Try again</a:t>
            </a:r>
            <a:endParaRPr lang="en-US" sz="1200" dirty="0"/>
          </a:p>
        </p:txBody>
      </p:sp>
      <p:sp>
        <p:nvSpPr>
          <p:cNvPr id="23" name="Text 21"/>
          <p:cNvSpPr txBox="1"/>
          <p:nvPr/>
        </p:nvSpPr>
        <p:spPr>
          <a:xfrm>
            <a:off x="7086600" y="3429000"/>
            <a:ext cx="1554480" cy="731520"/>
          </a:xfrm>
          <a:prstGeom prst="roundRect">
            <a:avLst>
              <a:gd name="adj" fmla="val 10000"/>
            </a:avLst>
          </a:prstGeom>
          <a:solidFill>
            <a:srgbClr val="FAECE7"/>
          </a:solidFill>
          <a:ln w="12700">
            <a:solidFill>
              <a:srgbClr val="D85A30"/>
            </a:solidFill>
            <a:prstDash val="dash"/>
          </a:ln>
        </p:spPr>
        <p:txBody>
          <a:bodyPr wrap="square" lIns="38100" tIns="38100" rIns="38100" bIns="38100" rtlCol="0" anchor="ctr"/>
          <a:lstStyle/>
          <a:p>
            <a:pPr marL="0" indent="0" algn="ctr">
              <a:buNone/>
            </a:pPr>
            <a:r>
              <a:rPr lang="en-US" sz="1200" b="1" dirty="0">
                <a:solidFill>
                  <a:srgbClr val="712B13"/>
                </a:solidFill>
                <a:latin typeface="Calibri" pitchFamily="34" charset="0"/>
                <a:ea typeface="Calibri" pitchFamily="34" charset="-122"/>
                <a:cs typeface="Calibri" pitchFamily="34" charset="-120"/>
              </a:rPr>
              <a:t>Human Handover</a:t>
            </a:r>
            <a:endParaRPr lang="en-US" sz="1200" dirty="0"/>
          </a:p>
          <a:p>
            <a:pPr marL="0" indent="0" algn="ctr">
              <a:buNone/>
            </a:pPr>
            <a:r>
              <a:rPr lang="en-US" sz="1000" dirty="0">
                <a:solidFill>
                  <a:srgbClr val="712B13"/>
                </a:solidFill>
                <a:latin typeface="Calibri" pitchFamily="34" charset="0"/>
                <a:ea typeface="Calibri" pitchFamily="34" charset="-122"/>
                <a:cs typeface="Calibri" pitchFamily="34" charset="-120"/>
              </a:rPr>
              <a:t>Official site, DOI, advisor</a:t>
            </a:r>
            <a:endParaRPr lang="en-US" sz="1200" dirty="0"/>
          </a:p>
        </p:txBody>
      </p:sp>
      <p:sp>
        <p:nvSpPr>
          <p:cNvPr id="24" name="Text 22"/>
          <p:cNvSpPr txBox="1"/>
          <p:nvPr/>
        </p:nvSpPr>
        <p:spPr>
          <a:xfrm>
            <a:off x="457200" y="4389120"/>
            <a:ext cx="8229600" cy="365760"/>
          </a:xfrm>
          <a:prstGeom prst="rect">
            <a:avLst/>
          </a:prstGeom>
          <a:noFill/>
          <a:ln/>
        </p:spPr>
        <p:txBody>
          <a:bodyPr wrap="square" lIns="0" tIns="0" rIns="0" bIns="0" rtlCol="0" anchor="t"/>
          <a:lstStyle/>
          <a:p>
            <a:pPr marL="0" indent="0">
              <a:buNone/>
            </a:pPr>
            <a:r>
              <a:rPr lang="en-US" sz="1000" dirty="0">
                <a:solidFill>
                  <a:srgbClr val="5F5E5A"/>
                </a:solidFill>
                <a:latin typeface="Calibri" pitchFamily="34" charset="0"/>
                <a:ea typeface="Calibri" pitchFamily="34" charset="-122"/>
                <a:cs typeface="Calibri" pitchFamily="34" charset="-120"/>
              </a:rPr>
              <a:t>Chips = quick-reply buttons. Human handover can trigger at any step (novelty, acceptance chances, fees).</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2263A"/>
                </a:solidFill>
                <a:latin typeface="Cambria" pitchFamily="34" charset="0"/>
                <a:ea typeface="Cambria" pitchFamily="34" charset="-122"/>
                <a:cs typeface="Cambria" pitchFamily="34" charset="-120"/>
              </a:rPr>
              <a:t>What The Bot Says</a:t>
            </a:r>
            <a:endParaRPr lang="en-US" sz="2800" dirty="0"/>
          </a:p>
        </p:txBody>
      </p:sp>
      <p:sp>
        <p:nvSpPr>
          <p:cNvPr id="3" name="Text 1"/>
          <p:cNvSpPr txBox="1"/>
          <p:nvPr/>
        </p:nvSpPr>
        <p:spPr>
          <a:xfrm>
            <a:off x="457200" y="1005840"/>
            <a:ext cx="2651760" cy="1737360"/>
          </a:xfrm>
          <a:prstGeom prst="roundRect">
            <a:avLst>
              <a:gd name="adj" fmla="val 3158"/>
            </a:avLst>
          </a:prstGeom>
          <a:solidFill>
            <a:srgbClr val="E1F5EE"/>
          </a:solidFill>
          <a:ln w="12700">
            <a:solidFill>
              <a:srgbClr val="0F6E56"/>
            </a:solidFill>
          </a:ln>
        </p:spPr>
        <p:txBody>
          <a:bodyPr wrap="square" lIns="101600" tIns="101600" rIns="101600" bIns="101600" rtlCol="0" anchor="t"/>
          <a:lstStyle/>
          <a:p>
            <a:pPr marL="0" indent="0" algn="l">
              <a:buNone/>
            </a:pPr>
            <a:r>
              <a:rPr lang="en-US" sz="1200" b="1" dirty="0">
                <a:solidFill>
                  <a:srgbClr val="04342C"/>
                </a:solidFill>
                <a:latin typeface="Calibri" pitchFamily="34" charset="0"/>
                <a:ea typeface="Calibri" pitchFamily="34" charset="-122"/>
                <a:cs typeface="Calibri" pitchFamily="34" charset="-120"/>
              </a:rPr>
              <a:t>Greeting</a:t>
            </a:r>
            <a:endParaRPr lang="en-US" sz="1200" dirty="0"/>
          </a:p>
          <a:p>
            <a:pPr marL="0" indent="0" algn="l">
              <a:buNone/>
            </a:pPr>
            <a:r>
              <a:rPr lang="en-US" sz="1100" dirty="0">
                <a:solidFill>
                  <a:srgbClr val="04342C"/>
                </a:solidFill>
                <a:latin typeface="Calibri" pitchFamily="34" charset="0"/>
                <a:ea typeface="Calibri" pitchFamily="34" charset="-122"/>
                <a:cs typeface="Calibri" pitchFamily="34" charset="-120"/>
              </a:rPr>
              <a:t>Hi! I'm an AI assistant, not a person. I suggest research directions in CS, SC, AI and IS using a curated set of 32 papers. I can't confirm that an idea is new, guarantee acceptance by a journal, or cover topics outside these papers.</a:t>
            </a:r>
            <a:endParaRPr lang="en-US" sz="1200" dirty="0"/>
          </a:p>
        </p:txBody>
      </p:sp>
      <p:sp>
        <p:nvSpPr>
          <p:cNvPr id="4" name="Text 2"/>
          <p:cNvSpPr txBox="1"/>
          <p:nvPr/>
        </p:nvSpPr>
        <p:spPr>
          <a:xfrm>
            <a:off x="3246120" y="1005840"/>
            <a:ext cx="2651760" cy="1737360"/>
          </a:xfrm>
          <a:prstGeom prst="roundRect">
            <a:avLst>
              <a:gd name="adj" fmla="val 3158"/>
            </a:avLst>
          </a:prstGeom>
          <a:solidFill>
            <a:srgbClr val="FAECE7"/>
          </a:solidFill>
          <a:ln w="12700">
            <a:solidFill>
              <a:srgbClr val="D85A30"/>
            </a:solidFill>
          </a:ln>
        </p:spPr>
        <p:txBody>
          <a:bodyPr wrap="square" lIns="101600" tIns="101600" rIns="101600" bIns="101600" rtlCol="0" anchor="t"/>
          <a:lstStyle/>
          <a:p>
            <a:pPr marL="0" indent="0" algn="l">
              <a:buNone/>
            </a:pPr>
            <a:r>
              <a:rPr lang="en-US" sz="1200" b="1" dirty="0">
                <a:solidFill>
                  <a:srgbClr val="712B13"/>
                </a:solidFill>
                <a:latin typeface="Calibri" pitchFamily="34" charset="0"/>
                <a:ea typeface="Calibri" pitchFamily="34" charset="-122"/>
                <a:cs typeface="Calibri" pitchFamily="34" charset="-120"/>
              </a:rPr>
              <a:t>Unclear Input</a:t>
            </a:r>
            <a:endParaRPr lang="en-US" sz="1200" dirty="0"/>
          </a:p>
          <a:p>
            <a:pPr marL="0" indent="0" algn="l">
              <a:buNone/>
            </a:pPr>
            <a:r>
              <a:rPr lang="en-US" sz="1100" dirty="0">
                <a:solidFill>
                  <a:srgbClr val="712B13"/>
                </a:solidFill>
                <a:latin typeface="Calibri" pitchFamily="34" charset="0"/>
                <a:ea typeface="Calibri" pitchFamily="34" charset="-122"/>
                <a:cs typeface="Calibri" pitchFamily="34" charset="-120"/>
              </a:rPr>
              <a:t>I didn't quite get that. Pick one of the options below, or describe your skills in a few words, for example: 'Python, SQL, basic statistics'.</a:t>
            </a:r>
            <a:endParaRPr lang="en-US" sz="1200" dirty="0"/>
          </a:p>
        </p:txBody>
      </p:sp>
      <p:sp>
        <p:nvSpPr>
          <p:cNvPr id="5" name="Text 3"/>
          <p:cNvSpPr txBox="1"/>
          <p:nvPr/>
        </p:nvSpPr>
        <p:spPr>
          <a:xfrm>
            <a:off x="6035040" y="1005840"/>
            <a:ext cx="2651760" cy="1737360"/>
          </a:xfrm>
          <a:prstGeom prst="roundRect">
            <a:avLst>
              <a:gd name="adj" fmla="val 3158"/>
            </a:avLst>
          </a:prstGeom>
          <a:solidFill>
            <a:srgbClr val="FAECE7"/>
          </a:solidFill>
          <a:ln w="12700">
            <a:solidFill>
              <a:srgbClr val="D85A30"/>
            </a:solidFill>
          </a:ln>
        </p:spPr>
        <p:txBody>
          <a:bodyPr wrap="square" lIns="101600" tIns="101600" rIns="101600" bIns="101600" rtlCol="0" anchor="t"/>
          <a:lstStyle/>
          <a:p>
            <a:pPr marL="0" indent="0" algn="l">
              <a:buNone/>
            </a:pPr>
            <a:r>
              <a:rPr lang="en-US" sz="1200" b="1" dirty="0">
                <a:solidFill>
                  <a:srgbClr val="712B13"/>
                </a:solidFill>
                <a:latin typeface="Calibri" pitchFamily="34" charset="0"/>
                <a:ea typeface="Calibri" pitchFamily="34" charset="-122"/>
                <a:cs typeface="Calibri" pitchFamily="34" charset="-120"/>
              </a:rPr>
              <a:t>Fallback Message</a:t>
            </a:r>
            <a:endParaRPr lang="en-US" sz="1200" dirty="0"/>
          </a:p>
          <a:p>
            <a:pPr marL="0" indent="0" algn="l">
              <a:buNone/>
            </a:pPr>
            <a:r>
              <a:rPr lang="en-US" sz="1100" dirty="0">
                <a:solidFill>
                  <a:srgbClr val="712B13"/>
                </a:solidFill>
                <a:latin typeface="Calibri" pitchFamily="34" charset="0"/>
                <a:ea typeface="Calibri" pitchFamily="34" charset="-122"/>
                <a:cs typeface="Calibri" pitchFamily="34" charset="-120"/>
              </a:rPr>
              <a:t>I don't have enough evidence in my 32 papers to suggest a direction for this, and I won't guess. You can edit your profile, try another department, or check official sources.</a:t>
            </a:r>
            <a:endParaRPr lang="en-US" sz="1200" dirty="0"/>
          </a:p>
        </p:txBody>
      </p:sp>
      <p:sp>
        <p:nvSpPr>
          <p:cNvPr id="6" name="Text 4"/>
          <p:cNvSpPr txBox="1"/>
          <p:nvPr/>
        </p:nvSpPr>
        <p:spPr>
          <a:xfrm>
            <a:off x="457200" y="2926080"/>
            <a:ext cx="2651760" cy="1737360"/>
          </a:xfrm>
          <a:prstGeom prst="roundRect">
            <a:avLst>
              <a:gd name="adj" fmla="val 3158"/>
            </a:avLst>
          </a:prstGeom>
          <a:solidFill>
            <a:srgbClr val="FAECE7"/>
          </a:solidFill>
          <a:ln w="12700">
            <a:solidFill>
              <a:srgbClr val="D85A30"/>
            </a:solidFill>
          </a:ln>
        </p:spPr>
        <p:txBody>
          <a:bodyPr wrap="square" lIns="101600" tIns="101600" rIns="101600" bIns="101600" rtlCol="0" anchor="t"/>
          <a:lstStyle/>
          <a:p>
            <a:pPr marL="0" indent="0" algn="l">
              <a:buNone/>
            </a:pPr>
            <a:r>
              <a:rPr lang="en-US" sz="1200" b="1" dirty="0">
                <a:solidFill>
                  <a:srgbClr val="712B13"/>
                </a:solidFill>
                <a:latin typeface="Calibri" pitchFamily="34" charset="0"/>
                <a:ea typeface="Calibri" pitchFamily="34" charset="-122"/>
                <a:cs typeface="Calibri" pitchFamily="34" charset="-120"/>
              </a:rPr>
              <a:t>Model Error Or Timeout</a:t>
            </a:r>
            <a:endParaRPr lang="en-US" sz="1200" dirty="0"/>
          </a:p>
          <a:p>
            <a:pPr marL="0" indent="0" algn="l">
              <a:buNone/>
            </a:pPr>
            <a:r>
              <a:rPr lang="en-US" sz="1100" dirty="0">
                <a:solidFill>
                  <a:srgbClr val="712B13"/>
                </a:solidFill>
                <a:latin typeface="Calibri" pitchFamily="34" charset="0"/>
                <a:ea typeface="Calibri" pitchFamily="34" charset="-122"/>
                <a:cs typeface="Calibri" pitchFamily="34" charset="-120"/>
              </a:rPr>
              <a:t>I couldn't prepare the explanation right now. Your profile is saved, and here are the matching papers and reasons I already have. Try again?</a:t>
            </a:r>
            <a:endParaRPr lang="en-US" sz="1200" dirty="0"/>
          </a:p>
        </p:txBody>
      </p:sp>
      <p:sp>
        <p:nvSpPr>
          <p:cNvPr id="7" name="Text 5"/>
          <p:cNvSpPr txBox="1"/>
          <p:nvPr/>
        </p:nvSpPr>
        <p:spPr>
          <a:xfrm>
            <a:off x="3246120" y="2926080"/>
            <a:ext cx="2651760" cy="1737360"/>
          </a:xfrm>
          <a:prstGeom prst="roundRect">
            <a:avLst>
              <a:gd name="adj" fmla="val 3158"/>
            </a:avLst>
          </a:prstGeom>
          <a:solidFill>
            <a:srgbClr val="FAECE7"/>
          </a:solidFill>
          <a:ln w="12700">
            <a:solidFill>
              <a:srgbClr val="D85A30"/>
            </a:solidFill>
          </a:ln>
        </p:spPr>
        <p:txBody>
          <a:bodyPr wrap="square" lIns="101600" tIns="101600" rIns="101600" bIns="101600" rtlCol="0" anchor="t"/>
          <a:lstStyle/>
          <a:p>
            <a:pPr marL="0" indent="0" algn="l">
              <a:buNone/>
            </a:pPr>
            <a:r>
              <a:rPr lang="en-US" sz="1200" b="1" dirty="0">
                <a:solidFill>
                  <a:srgbClr val="712B13"/>
                </a:solidFill>
                <a:latin typeface="Calibri" pitchFamily="34" charset="0"/>
                <a:ea typeface="Calibri" pitchFamily="34" charset="-122"/>
                <a:cs typeface="Calibri" pitchFamily="34" charset="-120"/>
              </a:rPr>
              <a:t>Human Handover</a:t>
            </a:r>
            <a:endParaRPr lang="en-US" sz="1200" dirty="0"/>
          </a:p>
          <a:p>
            <a:pPr marL="0" indent="0" algn="l">
              <a:buNone/>
            </a:pPr>
            <a:r>
              <a:rPr lang="en-US" sz="1100" dirty="0">
                <a:solidFill>
                  <a:srgbClr val="712B13"/>
                </a:solidFill>
                <a:latin typeface="Calibri" pitchFamily="34" charset="0"/>
                <a:ea typeface="Calibri" pitchFamily="34" charset="-122"/>
                <a:cs typeface="Calibri" pitchFamily="34" charset="-120"/>
              </a:rPr>
              <a:t>That's beyond what I can verify. Please check the journal's official author guidelines, the paper's DOI page, or ask your academic supervisor.</a:t>
            </a:r>
            <a:endParaRPr lang="en-US" sz="1200" dirty="0"/>
          </a:p>
        </p:txBody>
      </p:sp>
      <p:sp>
        <p:nvSpPr>
          <p:cNvPr id="8" name="Text 6"/>
          <p:cNvSpPr txBox="1"/>
          <p:nvPr/>
        </p:nvSpPr>
        <p:spPr>
          <a:xfrm>
            <a:off x="6035040" y="2926080"/>
            <a:ext cx="2651760" cy="1737360"/>
          </a:xfrm>
          <a:prstGeom prst="roundRect">
            <a:avLst>
              <a:gd name="adj" fmla="val 3158"/>
            </a:avLst>
          </a:prstGeom>
          <a:solidFill>
            <a:srgbClr val="E1F5EE"/>
          </a:solidFill>
          <a:ln w="12700">
            <a:solidFill>
              <a:srgbClr val="0F6E56"/>
            </a:solidFill>
          </a:ln>
        </p:spPr>
        <p:txBody>
          <a:bodyPr wrap="square" lIns="101600" tIns="101600" rIns="101600" bIns="101600" rtlCol="0" anchor="t"/>
          <a:lstStyle/>
          <a:p>
            <a:pPr marL="0" indent="0" algn="l">
              <a:buNone/>
            </a:pPr>
            <a:r>
              <a:rPr lang="en-US" sz="1200" b="1" dirty="0">
                <a:solidFill>
                  <a:srgbClr val="04342C"/>
                </a:solidFill>
                <a:latin typeface="Calibri" pitchFamily="34" charset="0"/>
                <a:ea typeface="Calibri" pitchFamily="34" charset="-122"/>
                <a:cs typeface="Calibri" pitchFamily="34" charset="-120"/>
              </a:rPr>
              <a:t>Closure</a:t>
            </a:r>
            <a:endParaRPr lang="en-US" sz="1200" dirty="0"/>
          </a:p>
          <a:p>
            <a:pPr marL="0" indent="0" algn="l">
              <a:buNone/>
            </a:pPr>
            <a:r>
              <a:rPr lang="en-US" sz="1100" dirty="0">
                <a:solidFill>
                  <a:srgbClr val="04342C"/>
                </a:solidFill>
                <a:latin typeface="Calibri" pitchFamily="34" charset="0"/>
                <a:ea typeface="Calibri" pitchFamily="34" charset="-122"/>
                <a:cs typeface="Calibri" pitchFamily="34" charset="-120"/>
              </a:rPr>
              <a:t>Here is your roadmap summary. You can save it, edit your profile, or start over.</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2263A"/>
                </a:solidFill>
                <a:latin typeface="Cambria" pitchFamily="34" charset="0"/>
                <a:ea typeface="Cambria" pitchFamily="34" charset="-122"/>
                <a:cs typeface="Cambria" pitchFamily="34" charset="-120"/>
              </a:rPr>
              <a:t>System Architecture</a:t>
            </a:r>
            <a:endParaRPr lang="en-US" sz="2800" dirty="0"/>
          </a:p>
        </p:txBody>
      </p:sp>
      <p:sp>
        <p:nvSpPr>
          <p:cNvPr id="3" name="Shape 1"/>
          <p:cNvSpPr/>
          <p:nvPr/>
        </p:nvSpPr>
        <p:spPr>
          <a:xfrm>
            <a:off x="457200" y="868680"/>
            <a:ext cx="8229600" cy="868680"/>
          </a:xfrm>
          <a:prstGeom prst="roundRect">
            <a:avLst>
              <a:gd name="adj" fmla="val 10526"/>
            </a:avLst>
          </a:prstGeom>
          <a:ln w="9525">
            <a:solidFill>
              <a:srgbClr val="5F5E5A"/>
            </a:solidFill>
            <a:prstDash val="dash"/>
          </a:ln>
        </p:spPr>
        <p:txBody>
          <a:bodyPr/>
          <a:lstStyle/>
          <a:p>
            <a:endParaRPr lang="en-US"/>
          </a:p>
        </p:txBody>
      </p:sp>
      <p:sp>
        <p:nvSpPr>
          <p:cNvPr id="4" name="Text 2"/>
          <p:cNvSpPr txBox="1"/>
          <p:nvPr/>
        </p:nvSpPr>
        <p:spPr>
          <a:xfrm>
            <a:off x="594360" y="905256"/>
            <a:ext cx="4572000" cy="182880"/>
          </a:xfrm>
          <a:prstGeom prst="rect">
            <a:avLst/>
          </a:prstGeom>
          <a:noFill/>
          <a:ln/>
        </p:spPr>
        <p:txBody>
          <a:bodyPr wrap="square" lIns="0" tIns="0" rIns="0" bIns="0" rtlCol="0" anchor="t"/>
          <a:lstStyle/>
          <a:p>
            <a:pPr marL="0" indent="0">
              <a:buNone/>
            </a:pPr>
            <a:r>
              <a:rPr lang="en-US" sz="1000" dirty="0">
                <a:solidFill>
                  <a:srgbClr val="5F5E5A"/>
                </a:solidFill>
                <a:latin typeface="Calibri" pitchFamily="34" charset="0"/>
                <a:ea typeface="Calibri" pitchFamily="34" charset="-122"/>
                <a:cs typeface="Calibri" pitchFamily="34" charset="-120"/>
              </a:rPr>
              <a:t>Interface · HTML, CSS, JavaScript</a:t>
            </a:r>
            <a:endParaRPr lang="en-US" sz="1000" dirty="0"/>
          </a:p>
        </p:txBody>
      </p:sp>
      <p:sp>
        <p:nvSpPr>
          <p:cNvPr id="5" name="Text 3"/>
          <p:cNvSpPr txBox="1"/>
          <p:nvPr/>
        </p:nvSpPr>
        <p:spPr>
          <a:xfrm>
            <a:off x="594360" y="1143000"/>
            <a:ext cx="2560320" cy="502920"/>
          </a:xfrm>
          <a:prstGeom prst="roundRect">
            <a:avLst>
              <a:gd name="adj" fmla="val 14545"/>
            </a:avLst>
          </a:prstGeom>
          <a:solidFill>
            <a:srgbClr val="F1EFE8"/>
          </a:solidFill>
          <a:ln w="12700">
            <a:solidFill>
              <a:srgbClr val="5F5E5A"/>
            </a:solidFill>
            <a:prstDash val="solid"/>
          </a:ln>
        </p:spPr>
        <p:txBody>
          <a:bodyPr wrap="square" lIns="38100" tIns="38100" rIns="38100" bIns="38100" rtlCol="0" anchor="ctr"/>
          <a:lstStyle/>
          <a:p>
            <a:pPr marL="0" indent="0" algn="ctr">
              <a:buNone/>
            </a:pPr>
            <a:r>
              <a:rPr lang="en-US" sz="1200" b="1" dirty="0">
                <a:solidFill>
                  <a:srgbClr val="2C2C2A"/>
                </a:solidFill>
                <a:latin typeface="Calibri" pitchFamily="34" charset="0"/>
                <a:ea typeface="Calibri" pitchFamily="34" charset="-122"/>
                <a:cs typeface="Calibri" pitchFamily="34" charset="-120"/>
              </a:rPr>
              <a:t>Chat And Form</a:t>
            </a:r>
            <a:endParaRPr lang="en-US" sz="1200" dirty="0"/>
          </a:p>
          <a:p>
            <a:pPr marL="0" indent="0" algn="ctr">
              <a:buNone/>
            </a:pPr>
            <a:r>
              <a:rPr lang="en-US" sz="1000" dirty="0">
                <a:solidFill>
                  <a:srgbClr val="2C2C2A"/>
                </a:solidFill>
                <a:latin typeface="Calibri" pitchFamily="34" charset="0"/>
                <a:ea typeface="Calibri" pitchFamily="34" charset="-122"/>
                <a:cs typeface="Calibri" pitchFamily="34" charset="-120"/>
              </a:rPr>
              <a:t>Quick replies, profile</a:t>
            </a:r>
            <a:endParaRPr lang="en-US" sz="1200" dirty="0"/>
          </a:p>
        </p:txBody>
      </p:sp>
      <p:sp>
        <p:nvSpPr>
          <p:cNvPr id="6" name="Text 4"/>
          <p:cNvSpPr txBox="1"/>
          <p:nvPr/>
        </p:nvSpPr>
        <p:spPr>
          <a:xfrm>
            <a:off x="3246120" y="1143000"/>
            <a:ext cx="2560320" cy="502920"/>
          </a:xfrm>
          <a:prstGeom prst="roundRect">
            <a:avLst>
              <a:gd name="adj" fmla="val 14545"/>
            </a:avLst>
          </a:prstGeom>
          <a:solidFill>
            <a:srgbClr val="EEEDFE"/>
          </a:solidFill>
          <a:ln w="25400">
            <a:solidFill>
              <a:srgbClr val="534AB7"/>
            </a:solidFill>
            <a:prstDash val="solid"/>
          </a:ln>
        </p:spPr>
        <p:txBody>
          <a:bodyPr wrap="square" lIns="38100" tIns="38100" rIns="38100" bIns="38100" rtlCol="0" anchor="ctr"/>
          <a:lstStyle/>
          <a:p>
            <a:pPr marL="0" indent="0" algn="ctr">
              <a:buNone/>
            </a:pPr>
            <a:r>
              <a:rPr lang="en-US" sz="1200" b="1" dirty="0">
                <a:solidFill>
                  <a:srgbClr val="26215C"/>
                </a:solidFill>
                <a:latin typeface="Calibri" pitchFamily="34" charset="0"/>
                <a:ea typeface="Calibri" pitchFamily="34" charset="-122"/>
                <a:cs typeface="Calibri" pitchFamily="34" charset="-120"/>
              </a:rPr>
              <a:t>Why This? Panel</a:t>
            </a:r>
            <a:endParaRPr lang="en-US" sz="1200" dirty="0"/>
          </a:p>
          <a:p>
            <a:pPr marL="0" indent="0" algn="ctr">
              <a:buNone/>
            </a:pPr>
            <a:r>
              <a:rPr lang="en-US" sz="1000" dirty="0">
                <a:solidFill>
                  <a:srgbClr val="26215C"/>
                </a:solidFill>
                <a:latin typeface="Calibri" pitchFamily="34" charset="0"/>
                <a:ea typeface="Calibri" pitchFamily="34" charset="-122"/>
                <a:cs typeface="Calibri" pitchFamily="34" charset="-120"/>
              </a:rPr>
              <a:t>Reasons, papers, limits</a:t>
            </a:r>
            <a:endParaRPr lang="en-US" sz="1200" dirty="0"/>
          </a:p>
        </p:txBody>
      </p:sp>
      <p:sp>
        <p:nvSpPr>
          <p:cNvPr id="7" name="Text 5"/>
          <p:cNvSpPr txBox="1"/>
          <p:nvPr/>
        </p:nvSpPr>
        <p:spPr>
          <a:xfrm>
            <a:off x="5897880" y="1143000"/>
            <a:ext cx="2560320" cy="502920"/>
          </a:xfrm>
          <a:prstGeom prst="roundRect">
            <a:avLst>
              <a:gd name="adj" fmla="val 14545"/>
            </a:avLst>
          </a:prstGeom>
          <a:solidFill>
            <a:srgbClr val="F1EFE8"/>
          </a:solidFill>
          <a:ln w="12700">
            <a:solidFill>
              <a:srgbClr val="5F5E5A"/>
            </a:solidFill>
            <a:prstDash val="solid"/>
          </a:ln>
        </p:spPr>
        <p:txBody>
          <a:bodyPr wrap="square" lIns="38100" tIns="38100" rIns="38100" bIns="38100" rtlCol="0" anchor="ctr"/>
          <a:lstStyle/>
          <a:p>
            <a:pPr marL="0" indent="0" algn="ctr">
              <a:buNone/>
            </a:pPr>
            <a:r>
              <a:rPr lang="en-US" sz="1200" b="1" dirty="0">
                <a:solidFill>
                  <a:srgbClr val="2C2C2A"/>
                </a:solidFill>
                <a:latin typeface="Calibri" pitchFamily="34" charset="0"/>
                <a:ea typeface="Calibri" pitchFamily="34" charset="-122"/>
                <a:cs typeface="Calibri" pitchFamily="34" charset="-120"/>
              </a:rPr>
              <a:t>Controls</a:t>
            </a:r>
            <a:endParaRPr lang="en-US" sz="1200" dirty="0"/>
          </a:p>
          <a:p>
            <a:pPr marL="0" indent="0" algn="ctr">
              <a:buNone/>
            </a:pPr>
            <a:r>
              <a:rPr lang="en-US" sz="1000" dirty="0">
                <a:solidFill>
                  <a:srgbClr val="2C2C2A"/>
                </a:solidFill>
                <a:latin typeface="Calibri" pitchFamily="34" charset="0"/>
                <a:ea typeface="Calibri" pitchFamily="34" charset="-122"/>
                <a:cs typeface="Calibri" pitchFamily="34" charset="-120"/>
              </a:rPr>
              <a:t>Back, Undo, Feedback</a:t>
            </a:r>
            <a:endParaRPr lang="en-US" sz="1200" dirty="0"/>
          </a:p>
        </p:txBody>
      </p:sp>
      <p:sp>
        <p:nvSpPr>
          <p:cNvPr id="8" name="Shape 6"/>
          <p:cNvSpPr/>
          <p:nvPr/>
        </p:nvSpPr>
        <p:spPr>
          <a:xfrm>
            <a:off x="4572000" y="1755648"/>
            <a:ext cx="0" cy="256032"/>
          </a:xfrm>
          <a:prstGeom prst="line">
            <a:avLst/>
          </a:prstGeom>
          <a:noFill/>
          <a:ln w="15875">
            <a:solidFill>
              <a:srgbClr val="5F5E5A"/>
            </a:solidFill>
            <a:prstDash val="solid"/>
            <a:headEnd type="triangle"/>
            <a:tailEnd type="triangle"/>
          </a:ln>
        </p:spPr>
        <p:txBody>
          <a:bodyPr/>
          <a:lstStyle/>
          <a:p>
            <a:endParaRPr lang="en-US"/>
          </a:p>
        </p:txBody>
      </p:sp>
      <p:sp>
        <p:nvSpPr>
          <p:cNvPr id="9" name="Shape 7"/>
          <p:cNvSpPr/>
          <p:nvPr/>
        </p:nvSpPr>
        <p:spPr>
          <a:xfrm>
            <a:off x="457200" y="2011680"/>
            <a:ext cx="8229600" cy="1417320"/>
          </a:xfrm>
          <a:prstGeom prst="roundRect">
            <a:avLst>
              <a:gd name="adj" fmla="val 6452"/>
            </a:avLst>
          </a:prstGeom>
          <a:ln w="9525">
            <a:solidFill>
              <a:srgbClr val="5F5E5A"/>
            </a:solidFill>
            <a:prstDash val="dash"/>
          </a:ln>
        </p:spPr>
        <p:txBody>
          <a:bodyPr/>
          <a:lstStyle/>
          <a:p>
            <a:endParaRPr lang="en-US"/>
          </a:p>
        </p:txBody>
      </p:sp>
      <p:sp>
        <p:nvSpPr>
          <p:cNvPr id="10" name="Text 8"/>
          <p:cNvSpPr txBox="1"/>
          <p:nvPr/>
        </p:nvSpPr>
        <p:spPr>
          <a:xfrm>
            <a:off x="594360" y="2048256"/>
            <a:ext cx="4572000" cy="182880"/>
          </a:xfrm>
          <a:prstGeom prst="rect">
            <a:avLst/>
          </a:prstGeom>
          <a:noFill/>
          <a:ln/>
        </p:spPr>
        <p:txBody>
          <a:bodyPr wrap="square" lIns="0" tIns="0" rIns="0" bIns="0" rtlCol="0" anchor="t"/>
          <a:lstStyle/>
          <a:p>
            <a:pPr marL="0" indent="0">
              <a:buNone/>
            </a:pPr>
            <a:r>
              <a:rPr lang="en-US" sz="1000" dirty="0">
                <a:solidFill>
                  <a:srgbClr val="5F5E5A"/>
                </a:solidFill>
                <a:latin typeface="Calibri" pitchFamily="34" charset="0"/>
                <a:ea typeface="Calibri" pitchFamily="34" charset="-122"/>
                <a:cs typeface="Calibri" pitchFamily="34" charset="-120"/>
              </a:rPr>
              <a:t>Backend · Flask</a:t>
            </a:r>
            <a:endParaRPr lang="en-US" sz="1000" dirty="0"/>
          </a:p>
        </p:txBody>
      </p:sp>
      <p:sp>
        <p:nvSpPr>
          <p:cNvPr id="11" name="Text 9"/>
          <p:cNvSpPr txBox="1"/>
          <p:nvPr/>
        </p:nvSpPr>
        <p:spPr>
          <a:xfrm>
            <a:off x="594360" y="2377440"/>
            <a:ext cx="1188720" cy="822960"/>
          </a:xfrm>
          <a:prstGeom prst="roundRect">
            <a:avLst>
              <a:gd name="adj" fmla="val 8889"/>
            </a:avLst>
          </a:prstGeom>
          <a:solidFill>
            <a:srgbClr val="FAECE7"/>
          </a:solidFill>
          <a:ln w="12700">
            <a:solidFill>
              <a:srgbClr val="D85A30"/>
            </a:solidFill>
            <a:prstDash val="dash"/>
          </a:ln>
        </p:spPr>
        <p:txBody>
          <a:bodyPr wrap="square" lIns="38100" tIns="38100" rIns="38100" bIns="38100" rtlCol="0" anchor="ctr"/>
          <a:lstStyle/>
          <a:p>
            <a:pPr marL="0" indent="0" algn="ctr">
              <a:buNone/>
            </a:pPr>
            <a:r>
              <a:rPr lang="en-US" sz="1200" b="1" dirty="0">
                <a:solidFill>
                  <a:srgbClr val="712B13"/>
                </a:solidFill>
                <a:latin typeface="Calibri" pitchFamily="34" charset="0"/>
                <a:ea typeface="Calibri" pitchFamily="34" charset="-122"/>
                <a:cs typeface="Calibri" pitchFamily="34" charset="-120"/>
              </a:rPr>
              <a:t>Scope Check</a:t>
            </a:r>
            <a:endParaRPr lang="en-US" sz="1200" dirty="0"/>
          </a:p>
          <a:p>
            <a:pPr marL="0" indent="0" algn="ctr">
              <a:buNone/>
            </a:pPr>
            <a:r>
              <a:rPr lang="en-US" sz="1000" dirty="0">
                <a:solidFill>
                  <a:srgbClr val="712B13"/>
                </a:solidFill>
                <a:latin typeface="Calibri" pitchFamily="34" charset="0"/>
                <a:ea typeface="Calibri" pitchFamily="34" charset="-122"/>
                <a:cs typeface="Calibri" pitchFamily="34" charset="-120"/>
              </a:rPr>
              <a:t>Out of scope → fallback</a:t>
            </a:r>
            <a:endParaRPr lang="en-US" sz="1200" dirty="0"/>
          </a:p>
        </p:txBody>
      </p:sp>
      <p:sp>
        <p:nvSpPr>
          <p:cNvPr id="12" name="Shape 10"/>
          <p:cNvSpPr/>
          <p:nvPr/>
        </p:nvSpPr>
        <p:spPr>
          <a:xfrm>
            <a:off x="1783080" y="2788920"/>
            <a:ext cx="137160" cy="0"/>
          </a:xfrm>
          <a:prstGeom prst="line">
            <a:avLst/>
          </a:prstGeom>
          <a:noFill/>
          <a:ln w="15875">
            <a:solidFill>
              <a:srgbClr val="5F5E5A"/>
            </a:solidFill>
            <a:prstDash val="solid"/>
            <a:tailEnd type="triangle"/>
          </a:ln>
        </p:spPr>
        <p:txBody>
          <a:bodyPr/>
          <a:lstStyle/>
          <a:p>
            <a:endParaRPr lang="en-US"/>
          </a:p>
        </p:txBody>
      </p:sp>
      <p:sp>
        <p:nvSpPr>
          <p:cNvPr id="13" name="Text 11"/>
          <p:cNvSpPr txBox="1"/>
          <p:nvPr/>
        </p:nvSpPr>
        <p:spPr>
          <a:xfrm>
            <a:off x="1920240" y="2377440"/>
            <a:ext cx="1188720" cy="822960"/>
          </a:xfrm>
          <a:prstGeom prst="roundRect">
            <a:avLst>
              <a:gd name="adj" fmla="val 8889"/>
            </a:avLst>
          </a:prstGeom>
          <a:solidFill>
            <a:srgbClr val="F1EFE8"/>
          </a:solidFill>
          <a:ln w="12700">
            <a:solidFill>
              <a:srgbClr val="5F5E5A"/>
            </a:solidFill>
            <a:prstDash val="solid"/>
          </a:ln>
        </p:spPr>
        <p:txBody>
          <a:bodyPr wrap="square" lIns="38100" tIns="38100" rIns="38100" bIns="38100" rtlCol="0" anchor="ctr"/>
          <a:lstStyle/>
          <a:p>
            <a:pPr marL="0" indent="0" algn="ctr">
              <a:buNone/>
            </a:pPr>
            <a:r>
              <a:rPr lang="en-US" sz="1200" b="1" dirty="0">
                <a:solidFill>
                  <a:srgbClr val="2C2C2A"/>
                </a:solidFill>
                <a:latin typeface="Calibri" pitchFamily="34" charset="0"/>
                <a:ea typeface="Calibri" pitchFamily="34" charset="-122"/>
                <a:cs typeface="Calibri" pitchFamily="34" charset="-120"/>
              </a:rPr>
              <a:t>Retrieve And Rank</a:t>
            </a:r>
            <a:endParaRPr lang="en-US" sz="1200" dirty="0"/>
          </a:p>
          <a:p>
            <a:pPr marL="0" indent="0" algn="ctr">
              <a:buNone/>
            </a:pPr>
            <a:r>
              <a:rPr lang="en-US" sz="1000" dirty="0">
                <a:solidFill>
                  <a:srgbClr val="2C2C2A"/>
                </a:solidFill>
                <a:latin typeface="Calibri" pitchFamily="34" charset="0"/>
                <a:ea typeface="Calibri" pitchFamily="34" charset="-122"/>
                <a:cs typeface="Calibri" pitchFamily="34" charset="-120"/>
              </a:rPr>
              <a:t>SQLite FTS5, bounded</a:t>
            </a:r>
            <a:endParaRPr lang="en-US" sz="1200" dirty="0"/>
          </a:p>
        </p:txBody>
      </p:sp>
      <p:sp>
        <p:nvSpPr>
          <p:cNvPr id="14" name="Shape 12"/>
          <p:cNvSpPr/>
          <p:nvPr/>
        </p:nvSpPr>
        <p:spPr>
          <a:xfrm>
            <a:off x="3108960" y="2788920"/>
            <a:ext cx="137160" cy="0"/>
          </a:xfrm>
          <a:prstGeom prst="line">
            <a:avLst/>
          </a:prstGeom>
          <a:noFill/>
          <a:ln w="15875">
            <a:solidFill>
              <a:srgbClr val="5F5E5A"/>
            </a:solidFill>
            <a:prstDash val="solid"/>
            <a:tailEnd type="triangle"/>
          </a:ln>
        </p:spPr>
        <p:txBody>
          <a:bodyPr/>
          <a:lstStyle/>
          <a:p>
            <a:endParaRPr lang="en-US"/>
          </a:p>
        </p:txBody>
      </p:sp>
      <p:sp>
        <p:nvSpPr>
          <p:cNvPr id="15" name="Text 13"/>
          <p:cNvSpPr txBox="1"/>
          <p:nvPr/>
        </p:nvSpPr>
        <p:spPr>
          <a:xfrm>
            <a:off x="3246120" y="2377440"/>
            <a:ext cx="1188720" cy="822960"/>
          </a:xfrm>
          <a:prstGeom prst="roundRect">
            <a:avLst>
              <a:gd name="adj" fmla="val 8889"/>
            </a:avLst>
          </a:prstGeom>
          <a:solidFill>
            <a:srgbClr val="EEEDFE"/>
          </a:solidFill>
          <a:ln w="25400">
            <a:solidFill>
              <a:srgbClr val="534AB7"/>
            </a:solidFill>
            <a:prstDash val="solid"/>
          </a:ln>
        </p:spPr>
        <p:txBody>
          <a:bodyPr wrap="square" lIns="38100" tIns="38100" rIns="38100" bIns="38100" rtlCol="0" anchor="ctr"/>
          <a:lstStyle/>
          <a:p>
            <a:pPr marL="0" indent="0" algn="ctr">
              <a:buNone/>
            </a:pPr>
            <a:r>
              <a:rPr lang="en-US" sz="1200" b="1" dirty="0">
                <a:solidFill>
                  <a:srgbClr val="26215C"/>
                </a:solidFill>
                <a:latin typeface="Calibri" pitchFamily="34" charset="0"/>
                <a:ea typeface="Calibri" pitchFamily="34" charset="-122"/>
                <a:cs typeface="Calibri" pitchFamily="34" charset="-120"/>
              </a:rPr>
              <a:t>Reason Builder</a:t>
            </a:r>
            <a:endParaRPr lang="en-US" sz="1200" dirty="0"/>
          </a:p>
          <a:p>
            <a:pPr marL="0" indent="0" algn="ctr">
              <a:buNone/>
            </a:pPr>
            <a:r>
              <a:rPr lang="en-US" sz="1000" dirty="0">
                <a:solidFill>
                  <a:srgbClr val="26215C"/>
                </a:solidFill>
                <a:latin typeface="Calibri" pitchFamily="34" charset="0"/>
                <a:ea typeface="Calibri" pitchFamily="34" charset="-122"/>
                <a:cs typeface="Calibri" pitchFamily="34" charset="-120"/>
              </a:rPr>
              <a:t>Skills, tags, rank, papers</a:t>
            </a:r>
            <a:endParaRPr lang="en-US" sz="1200" dirty="0"/>
          </a:p>
        </p:txBody>
      </p:sp>
      <p:sp>
        <p:nvSpPr>
          <p:cNvPr id="16" name="Shape 14"/>
          <p:cNvSpPr/>
          <p:nvPr/>
        </p:nvSpPr>
        <p:spPr>
          <a:xfrm>
            <a:off x="4434840" y="2788920"/>
            <a:ext cx="137160" cy="0"/>
          </a:xfrm>
          <a:prstGeom prst="line">
            <a:avLst/>
          </a:prstGeom>
          <a:noFill/>
          <a:ln w="15875">
            <a:solidFill>
              <a:srgbClr val="5F5E5A"/>
            </a:solidFill>
            <a:prstDash val="solid"/>
            <a:tailEnd type="triangle"/>
          </a:ln>
        </p:spPr>
        <p:txBody>
          <a:bodyPr/>
          <a:lstStyle/>
          <a:p>
            <a:endParaRPr lang="en-US"/>
          </a:p>
        </p:txBody>
      </p:sp>
      <p:sp>
        <p:nvSpPr>
          <p:cNvPr id="17" name="Text 15"/>
          <p:cNvSpPr txBox="1"/>
          <p:nvPr/>
        </p:nvSpPr>
        <p:spPr>
          <a:xfrm>
            <a:off x="4572000" y="2377440"/>
            <a:ext cx="1188720" cy="822960"/>
          </a:xfrm>
          <a:prstGeom prst="roundRect">
            <a:avLst>
              <a:gd name="adj" fmla="val 8889"/>
            </a:avLst>
          </a:prstGeom>
          <a:solidFill>
            <a:srgbClr val="F1EFE8"/>
          </a:solidFill>
          <a:ln w="12700">
            <a:solidFill>
              <a:srgbClr val="5F5E5A"/>
            </a:solidFill>
            <a:prstDash val="solid"/>
          </a:ln>
        </p:spPr>
        <p:txBody>
          <a:bodyPr wrap="square" lIns="38100" tIns="38100" rIns="38100" bIns="38100" rtlCol="0" anchor="ctr"/>
          <a:lstStyle/>
          <a:p>
            <a:pPr marL="0" indent="0" algn="ctr">
              <a:buNone/>
            </a:pPr>
            <a:r>
              <a:rPr lang="en-US" sz="1200" b="1" dirty="0">
                <a:solidFill>
                  <a:srgbClr val="2C2C2A"/>
                </a:solidFill>
                <a:latin typeface="Calibri" pitchFamily="34" charset="0"/>
                <a:ea typeface="Calibri" pitchFamily="34" charset="-122"/>
                <a:cs typeface="Calibri" pitchFamily="34" charset="-120"/>
              </a:rPr>
              <a:t>Gemini Call</a:t>
            </a:r>
            <a:endParaRPr lang="en-US" sz="1200" dirty="0"/>
          </a:p>
          <a:p>
            <a:pPr marL="0" indent="0" algn="ctr">
              <a:buNone/>
            </a:pPr>
            <a:r>
              <a:rPr lang="en-US" sz="1000" dirty="0">
                <a:solidFill>
                  <a:srgbClr val="2C2C2A"/>
                </a:solidFill>
                <a:latin typeface="Calibri" pitchFamily="34" charset="0"/>
                <a:ea typeface="Calibri" pitchFamily="34" charset="-122"/>
                <a:cs typeface="Calibri" pitchFamily="34" charset="-120"/>
              </a:rPr>
              <a:t>Evidence-only prompt</a:t>
            </a:r>
            <a:endParaRPr lang="en-US" sz="1200" dirty="0"/>
          </a:p>
        </p:txBody>
      </p:sp>
      <p:sp>
        <p:nvSpPr>
          <p:cNvPr id="18" name="Shape 16"/>
          <p:cNvSpPr/>
          <p:nvPr/>
        </p:nvSpPr>
        <p:spPr>
          <a:xfrm>
            <a:off x="5760720" y="2788920"/>
            <a:ext cx="137160" cy="0"/>
          </a:xfrm>
          <a:prstGeom prst="line">
            <a:avLst/>
          </a:prstGeom>
          <a:noFill/>
          <a:ln w="15875">
            <a:solidFill>
              <a:srgbClr val="5F5E5A"/>
            </a:solidFill>
            <a:prstDash val="solid"/>
            <a:tailEnd type="triangle"/>
          </a:ln>
        </p:spPr>
        <p:txBody>
          <a:bodyPr/>
          <a:lstStyle/>
          <a:p>
            <a:endParaRPr lang="en-US"/>
          </a:p>
        </p:txBody>
      </p:sp>
      <p:sp>
        <p:nvSpPr>
          <p:cNvPr id="19" name="Text 17"/>
          <p:cNvSpPr txBox="1"/>
          <p:nvPr/>
        </p:nvSpPr>
        <p:spPr>
          <a:xfrm>
            <a:off x="5897880" y="2377440"/>
            <a:ext cx="1188720" cy="822960"/>
          </a:xfrm>
          <a:prstGeom prst="roundRect">
            <a:avLst>
              <a:gd name="adj" fmla="val 8889"/>
            </a:avLst>
          </a:prstGeom>
          <a:solidFill>
            <a:srgbClr val="FAECE7"/>
          </a:solidFill>
          <a:ln w="12700">
            <a:solidFill>
              <a:srgbClr val="D85A30"/>
            </a:solidFill>
            <a:prstDash val="dash"/>
          </a:ln>
        </p:spPr>
        <p:txBody>
          <a:bodyPr wrap="square" lIns="38100" tIns="38100" rIns="38100" bIns="38100" rtlCol="0" anchor="ctr"/>
          <a:lstStyle/>
          <a:p>
            <a:pPr marL="0" indent="0" algn="ctr">
              <a:buNone/>
            </a:pPr>
            <a:r>
              <a:rPr lang="en-US" sz="1200" b="1" dirty="0">
                <a:solidFill>
                  <a:srgbClr val="712B13"/>
                </a:solidFill>
                <a:latin typeface="Calibri" pitchFamily="34" charset="0"/>
                <a:ea typeface="Calibri" pitchFamily="34" charset="-122"/>
                <a:cs typeface="Calibri" pitchFamily="34" charset="-120"/>
              </a:rPr>
              <a:t>Error Handling</a:t>
            </a:r>
            <a:endParaRPr lang="en-US" sz="1200" dirty="0"/>
          </a:p>
          <a:p>
            <a:pPr marL="0" indent="0" algn="ctr">
              <a:buNone/>
            </a:pPr>
            <a:r>
              <a:rPr lang="en-US" sz="1000" dirty="0">
                <a:solidFill>
                  <a:srgbClr val="712B13"/>
                </a:solidFill>
                <a:latin typeface="Calibri" pitchFamily="34" charset="0"/>
                <a:ea typeface="Calibri" pitchFamily="34" charset="-122"/>
                <a:cs typeface="Calibri" pitchFamily="34" charset="-120"/>
              </a:rPr>
              <a:t>Timeout → stored reasons</a:t>
            </a:r>
            <a:endParaRPr lang="en-US" sz="1200" dirty="0"/>
          </a:p>
        </p:txBody>
      </p:sp>
      <p:sp>
        <p:nvSpPr>
          <p:cNvPr id="20" name="Shape 18"/>
          <p:cNvSpPr/>
          <p:nvPr/>
        </p:nvSpPr>
        <p:spPr>
          <a:xfrm>
            <a:off x="7086600" y="2788920"/>
            <a:ext cx="137160" cy="0"/>
          </a:xfrm>
          <a:prstGeom prst="line">
            <a:avLst/>
          </a:prstGeom>
          <a:noFill/>
          <a:ln w="15875">
            <a:solidFill>
              <a:srgbClr val="5F5E5A"/>
            </a:solidFill>
            <a:prstDash val="solid"/>
            <a:tailEnd type="triangle"/>
          </a:ln>
        </p:spPr>
        <p:txBody>
          <a:bodyPr/>
          <a:lstStyle/>
          <a:p>
            <a:endParaRPr lang="en-US"/>
          </a:p>
        </p:txBody>
      </p:sp>
      <p:sp>
        <p:nvSpPr>
          <p:cNvPr id="21" name="Text 19"/>
          <p:cNvSpPr txBox="1"/>
          <p:nvPr/>
        </p:nvSpPr>
        <p:spPr>
          <a:xfrm>
            <a:off x="7223760" y="2377440"/>
            <a:ext cx="1188720" cy="822960"/>
          </a:xfrm>
          <a:prstGeom prst="roundRect">
            <a:avLst>
              <a:gd name="adj" fmla="val 8889"/>
            </a:avLst>
          </a:prstGeom>
          <a:solidFill>
            <a:srgbClr val="FAECE7"/>
          </a:solidFill>
          <a:ln w="12700">
            <a:solidFill>
              <a:srgbClr val="D85A30"/>
            </a:solidFill>
            <a:prstDash val="dash"/>
          </a:ln>
        </p:spPr>
        <p:txBody>
          <a:bodyPr wrap="square" lIns="38100" tIns="38100" rIns="38100" bIns="38100" rtlCol="0" anchor="ctr"/>
          <a:lstStyle/>
          <a:p>
            <a:pPr marL="0" indent="0" algn="ctr">
              <a:buNone/>
            </a:pPr>
            <a:r>
              <a:rPr lang="en-US" sz="1200" b="1" dirty="0">
                <a:solidFill>
                  <a:srgbClr val="712B13"/>
                </a:solidFill>
                <a:latin typeface="Calibri" pitchFamily="34" charset="0"/>
                <a:ea typeface="Calibri" pitchFamily="34" charset="-122"/>
                <a:cs typeface="Calibri" pitchFamily="34" charset="-120"/>
              </a:rPr>
              <a:t>Citation Check</a:t>
            </a:r>
            <a:endParaRPr lang="en-US" sz="1200" dirty="0"/>
          </a:p>
          <a:p>
            <a:pPr marL="0" indent="0" algn="ctr">
              <a:buNone/>
            </a:pPr>
            <a:r>
              <a:rPr lang="en-US" sz="1000" dirty="0">
                <a:solidFill>
                  <a:srgbClr val="712B13"/>
                </a:solidFill>
                <a:latin typeface="Calibri" pitchFamily="34" charset="0"/>
                <a:ea typeface="Calibri" pitchFamily="34" charset="-122"/>
                <a:cs typeface="Calibri" pitchFamily="34" charset="-120"/>
              </a:rPr>
              <a:t>Reject unknown paper IDs</a:t>
            </a:r>
            <a:endParaRPr lang="en-US" sz="1200" dirty="0"/>
          </a:p>
        </p:txBody>
      </p:sp>
      <p:sp>
        <p:nvSpPr>
          <p:cNvPr id="22" name="Text 20"/>
          <p:cNvSpPr txBox="1"/>
          <p:nvPr/>
        </p:nvSpPr>
        <p:spPr>
          <a:xfrm>
            <a:off x="1645920" y="3657600"/>
            <a:ext cx="1737360" cy="685800"/>
          </a:xfrm>
          <a:prstGeom prst="roundRect">
            <a:avLst>
              <a:gd name="adj" fmla="val 10667"/>
            </a:avLst>
          </a:prstGeom>
          <a:solidFill>
            <a:srgbClr val="F1EFE8"/>
          </a:solidFill>
          <a:ln w="12700">
            <a:solidFill>
              <a:srgbClr val="5F5E5A"/>
            </a:solidFill>
            <a:prstDash val="solid"/>
          </a:ln>
        </p:spPr>
        <p:txBody>
          <a:bodyPr wrap="square" lIns="38100" tIns="38100" rIns="38100" bIns="38100" rtlCol="0" anchor="ctr"/>
          <a:lstStyle/>
          <a:p>
            <a:pPr marL="0" indent="0" algn="ctr">
              <a:buNone/>
            </a:pPr>
            <a:r>
              <a:rPr lang="en-US" sz="1200" b="1" dirty="0">
                <a:solidFill>
                  <a:srgbClr val="2C2C2A"/>
                </a:solidFill>
                <a:latin typeface="Calibri" pitchFamily="34" charset="0"/>
                <a:ea typeface="Calibri" pitchFamily="34" charset="-122"/>
                <a:cs typeface="Calibri" pitchFamily="34" charset="-120"/>
              </a:rPr>
              <a:t>SQLite FTS5</a:t>
            </a:r>
            <a:endParaRPr lang="en-US" sz="1200" dirty="0"/>
          </a:p>
          <a:p>
            <a:pPr marL="0" indent="0" algn="ctr">
              <a:buNone/>
            </a:pPr>
            <a:r>
              <a:rPr lang="en-US" sz="1000" dirty="0">
                <a:solidFill>
                  <a:srgbClr val="2C2C2A"/>
                </a:solidFill>
                <a:latin typeface="Calibri" pitchFamily="34" charset="0"/>
                <a:ea typeface="Calibri" pitchFamily="34" charset="-122"/>
                <a:cs typeface="Calibri" pitchFamily="34" charset="-120"/>
              </a:rPr>
              <a:t>32 papers, 3 venues</a:t>
            </a:r>
            <a:endParaRPr lang="en-US" sz="1200" dirty="0"/>
          </a:p>
        </p:txBody>
      </p:sp>
      <p:sp>
        <p:nvSpPr>
          <p:cNvPr id="23" name="Shape 21"/>
          <p:cNvSpPr/>
          <p:nvPr/>
        </p:nvSpPr>
        <p:spPr>
          <a:xfrm flipH="1">
            <a:off x="2514600" y="3456432"/>
            <a:ext cx="0" cy="182880"/>
          </a:xfrm>
          <a:prstGeom prst="line">
            <a:avLst/>
          </a:prstGeom>
          <a:noFill/>
          <a:ln w="15875">
            <a:solidFill>
              <a:srgbClr val="5F5E5A"/>
            </a:solidFill>
            <a:prstDash val="solid"/>
            <a:tailEnd type="triangle"/>
          </a:ln>
        </p:spPr>
        <p:txBody>
          <a:bodyPr/>
          <a:lstStyle/>
          <a:p>
            <a:endParaRPr lang="en-US"/>
          </a:p>
        </p:txBody>
      </p:sp>
      <p:sp>
        <p:nvSpPr>
          <p:cNvPr id="24" name="Text 22"/>
          <p:cNvSpPr txBox="1"/>
          <p:nvPr/>
        </p:nvSpPr>
        <p:spPr>
          <a:xfrm>
            <a:off x="4297680" y="3657600"/>
            <a:ext cx="1737360" cy="685800"/>
          </a:xfrm>
          <a:prstGeom prst="roundRect">
            <a:avLst>
              <a:gd name="adj" fmla="val 10667"/>
            </a:avLst>
          </a:prstGeom>
          <a:solidFill>
            <a:srgbClr val="F1EFE8"/>
          </a:solidFill>
          <a:ln w="12700">
            <a:solidFill>
              <a:srgbClr val="5F5E5A"/>
            </a:solidFill>
            <a:prstDash val="solid"/>
          </a:ln>
        </p:spPr>
        <p:txBody>
          <a:bodyPr wrap="square" lIns="38100" tIns="38100" rIns="38100" bIns="38100" rtlCol="0" anchor="ctr"/>
          <a:lstStyle/>
          <a:p>
            <a:pPr marL="0" indent="0" algn="ctr">
              <a:buNone/>
            </a:pPr>
            <a:r>
              <a:rPr lang="en-US" sz="1200" b="1" dirty="0">
                <a:solidFill>
                  <a:srgbClr val="2C2C2A"/>
                </a:solidFill>
                <a:latin typeface="Calibri" pitchFamily="34" charset="0"/>
                <a:ea typeface="Calibri" pitchFamily="34" charset="-122"/>
                <a:cs typeface="Calibri" pitchFamily="34" charset="-120"/>
              </a:rPr>
              <a:t>Gemini API</a:t>
            </a:r>
            <a:endParaRPr lang="en-US" sz="1200" dirty="0"/>
          </a:p>
          <a:p>
            <a:pPr marL="0" indent="0" algn="ctr">
              <a:buNone/>
            </a:pPr>
            <a:r>
              <a:rPr lang="en-US" sz="1000" dirty="0">
                <a:solidFill>
                  <a:srgbClr val="2C2C2A"/>
                </a:solidFill>
                <a:latin typeface="Calibri" pitchFamily="34" charset="0"/>
                <a:ea typeface="Calibri" pitchFamily="34" charset="-122"/>
                <a:cs typeface="Calibri" pitchFamily="34" charset="-120"/>
              </a:rPr>
              <a:t>Hosted model</a:t>
            </a:r>
            <a:endParaRPr lang="en-US" sz="1200" dirty="0"/>
          </a:p>
        </p:txBody>
      </p:sp>
      <p:sp>
        <p:nvSpPr>
          <p:cNvPr id="25" name="Shape 23"/>
          <p:cNvSpPr/>
          <p:nvPr/>
        </p:nvSpPr>
        <p:spPr>
          <a:xfrm>
            <a:off x="5166360" y="3456432"/>
            <a:ext cx="0" cy="182880"/>
          </a:xfrm>
          <a:prstGeom prst="line">
            <a:avLst/>
          </a:prstGeom>
          <a:noFill/>
          <a:ln w="15875">
            <a:solidFill>
              <a:srgbClr val="5F5E5A"/>
            </a:solidFill>
            <a:prstDash val="solid"/>
            <a:headEnd type="triangle"/>
            <a:tailEnd type="triangle"/>
          </a:ln>
        </p:spPr>
        <p:txBody>
          <a:bodyPr/>
          <a:lstStyle/>
          <a:p>
            <a:endParaRPr lang="en-US"/>
          </a:p>
        </p:txBody>
      </p:sp>
      <p:sp>
        <p:nvSpPr>
          <p:cNvPr id="26" name="Text 24"/>
          <p:cNvSpPr txBox="1"/>
          <p:nvPr/>
        </p:nvSpPr>
        <p:spPr>
          <a:xfrm>
            <a:off x="6675120" y="3657600"/>
            <a:ext cx="1737360" cy="685800"/>
          </a:xfrm>
          <a:prstGeom prst="roundRect">
            <a:avLst>
              <a:gd name="adj" fmla="val 10667"/>
            </a:avLst>
          </a:prstGeom>
          <a:solidFill>
            <a:srgbClr val="FAECE7"/>
          </a:solidFill>
          <a:ln w="12700">
            <a:solidFill>
              <a:srgbClr val="D85A30"/>
            </a:solidFill>
            <a:prstDash val="dash"/>
          </a:ln>
        </p:spPr>
        <p:txBody>
          <a:bodyPr wrap="square" lIns="38100" tIns="38100" rIns="38100" bIns="38100" rtlCol="0" anchor="ctr"/>
          <a:lstStyle/>
          <a:p>
            <a:pPr marL="0" indent="0" algn="ctr">
              <a:buNone/>
            </a:pPr>
            <a:r>
              <a:rPr lang="en-US" sz="1200" b="1" dirty="0">
                <a:solidFill>
                  <a:srgbClr val="712B13"/>
                </a:solidFill>
                <a:latin typeface="Calibri" pitchFamily="34" charset="0"/>
                <a:ea typeface="Calibri" pitchFamily="34" charset="-122"/>
                <a:cs typeface="Calibri" pitchFamily="34" charset="-120"/>
              </a:rPr>
              <a:t>.env key</a:t>
            </a:r>
            <a:endParaRPr lang="en-US" sz="1200" dirty="0"/>
          </a:p>
          <a:p>
            <a:pPr marL="0" indent="0" algn="ctr">
              <a:buNone/>
            </a:pPr>
            <a:r>
              <a:rPr lang="en-US" sz="1000" dirty="0">
                <a:solidFill>
                  <a:srgbClr val="712B13"/>
                </a:solidFill>
                <a:latin typeface="Calibri" pitchFamily="34" charset="0"/>
                <a:ea typeface="Calibri" pitchFamily="34" charset="-122"/>
                <a:cs typeface="Calibri" pitchFamily="34" charset="-120"/>
              </a:rPr>
              <a:t>Never in the repo</a:t>
            </a:r>
            <a:endParaRPr lang="en-US" sz="1200" dirty="0"/>
          </a:p>
        </p:txBody>
      </p:sp>
      <p:sp>
        <p:nvSpPr>
          <p:cNvPr id="27" name="Text 25"/>
          <p:cNvSpPr txBox="1"/>
          <p:nvPr/>
        </p:nvSpPr>
        <p:spPr>
          <a:xfrm>
            <a:off x="457200" y="4526280"/>
            <a:ext cx="8229600" cy="320040"/>
          </a:xfrm>
          <a:prstGeom prst="rect">
            <a:avLst/>
          </a:prstGeom>
          <a:noFill/>
          <a:ln/>
        </p:spPr>
        <p:txBody>
          <a:bodyPr wrap="square" lIns="0" tIns="0" rIns="0" bIns="0" rtlCol="0" anchor="t"/>
          <a:lstStyle/>
          <a:p>
            <a:pPr marL="0" indent="0">
              <a:buNone/>
            </a:pPr>
            <a:r>
              <a:rPr lang="en-US" sz="1000" dirty="0">
                <a:solidFill>
                  <a:srgbClr val="5F5E5A"/>
                </a:solidFill>
                <a:latin typeface="Calibri" pitchFamily="34" charset="0"/>
                <a:ea typeface="Calibri" pitchFamily="34" charset="-122"/>
                <a:cs typeface="Calibri" pitchFamily="34" charset="-120"/>
              </a:rPr>
              <a:t>Gray: component or store · Coral: safeguard · Purple: principle feature (explainability), computed in the backend and shown in the interface</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2263A"/>
                </a:solidFill>
                <a:latin typeface="Cambria" pitchFamily="34" charset="0"/>
                <a:ea typeface="Cambria" pitchFamily="34" charset="-122"/>
                <a:cs typeface="Cambria" pitchFamily="34" charset="-120"/>
              </a:rPr>
              <a:t>Shneiderman's 8 Golden Rules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3168715249"/>
              </p:ext>
            </p:extLst>
          </p:nvPr>
        </p:nvGraphicFramePr>
        <p:xfrm>
          <a:off x="457200" y="914400"/>
          <a:ext cx="8229600" cy="2834640"/>
        </p:xfrm>
        <a:graphic>
          <a:graphicData uri="http://schemas.openxmlformats.org/drawingml/2006/table">
            <a:tbl>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Rule</a:t>
                      </a:r>
                      <a:endParaRPr lang="en-US" sz="1100" dirty="0">
                        <a:latin typeface="Calibri" charset="0"/>
                        <a:ea typeface="Calibri" charset="0"/>
                        <a:cs typeface="Calibri" charset="0"/>
                      </a:endParaRPr>
                    </a:p>
                  </a:txBody>
                  <a:tcPr marL="45720" marR="4572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1226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Screen Or Flow Decision That Meets It</a:t>
                      </a:r>
                      <a:endParaRPr lang="en-US" sz="1100" dirty="0">
                        <a:latin typeface="Calibri" charset="0"/>
                        <a:ea typeface="Calibri" charset="0"/>
                        <a:cs typeface="Calibri" charset="0"/>
                      </a:endParaRPr>
                    </a:p>
                  </a:txBody>
                  <a:tcPr marL="45720" marR="4572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12263A"/>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1. Strive For Consistency</a:t>
                      </a:r>
                      <a:endParaRPr lang="en-US" sz="1100" dirty="0">
                        <a:latin typeface="Calibri" charset="0"/>
                        <a:ea typeface="Calibri" charset="0"/>
                        <a:cs typeface="Calibri" charset="0"/>
                      </a:endParaRPr>
                    </a:p>
                  </a:txBody>
                  <a:tcPr marL="45720" marR="4572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Same three-part explanation in every answer; chips, Back and Undo always in the same place</a:t>
                      </a:r>
                      <a:endParaRPr lang="en-US" sz="1100" dirty="0">
                        <a:latin typeface="Calibri" charset="0"/>
                        <a:ea typeface="Calibri" charset="0"/>
                        <a:cs typeface="Calibri" charset="0"/>
                      </a:endParaRPr>
                    </a:p>
                  </a:txBody>
                  <a:tcPr marL="45720" marR="4572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2. Enable Shortcuts</a:t>
                      </a:r>
                      <a:endParaRPr lang="en-US" sz="1100" dirty="0">
                        <a:latin typeface="Calibri" charset="0"/>
                        <a:ea typeface="Calibri" charset="0"/>
                        <a:cs typeface="Calibri" charset="0"/>
                      </a:endParaRPr>
                    </a:p>
                  </a:txBody>
                  <a:tcPr marL="45720" marR="4572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Quick-reply chips; paste a full profile in one message; keyboard access (Tab, Enter)</a:t>
                      </a:r>
                      <a:endParaRPr lang="en-US" sz="1100" dirty="0">
                        <a:latin typeface="Calibri" charset="0"/>
                        <a:ea typeface="Calibri" charset="0"/>
                        <a:cs typeface="Calibri" charset="0"/>
                      </a:endParaRPr>
                    </a:p>
                  </a:txBody>
                  <a:tcPr marL="45720" marR="4572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3. Offer Informative Feedback</a:t>
                      </a:r>
                      <a:endParaRPr lang="en-US" sz="1100" dirty="0">
                        <a:latin typeface="Calibri" charset="0"/>
                        <a:ea typeface="Calibri" charset="0"/>
                        <a:cs typeface="Calibri" charset="0"/>
                      </a:endParaRPr>
                    </a:p>
                  </a:txBody>
                  <a:tcPr marL="45720" marR="4572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Step indicator (Step 2 of 5: Retrieve), "Searching 32 papers…", the bot repeats what it understood, errors say what to do next</a:t>
                      </a:r>
                      <a:endParaRPr lang="en-US" sz="1100" dirty="0">
                        <a:latin typeface="Calibri" charset="0"/>
                        <a:ea typeface="Calibri" charset="0"/>
                        <a:cs typeface="Calibri" charset="0"/>
                      </a:endParaRPr>
                    </a:p>
                  </a:txBody>
                  <a:tcPr marL="45720" marR="4572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4. Design Dialogs That Give Closure</a:t>
                      </a:r>
                      <a:endParaRPr lang="en-US" sz="1100" dirty="0">
                        <a:latin typeface="Calibri" charset="0"/>
                        <a:ea typeface="Calibri" charset="0"/>
                        <a:cs typeface="Calibri" charset="0"/>
                      </a:endParaRPr>
                    </a:p>
                  </a:txBody>
                  <a:tcPr marL="45720" marR="4572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Closure screen: roadmap summary with Save, Edit profile, Start over</a:t>
                      </a:r>
                      <a:endParaRPr lang="en-US" sz="1100" dirty="0">
                        <a:latin typeface="Calibri" charset="0"/>
                        <a:ea typeface="Calibri" charset="0"/>
                        <a:cs typeface="Calibri" charset="0"/>
                      </a:endParaRPr>
                    </a:p>
                  </a:txBody>
                  <a:tcPr marL="45720" marR="4572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5. Prevent Errors, Handle Them Simply</a:t>
                      </a:r>
                      <a:endParaRPr lang="en-US" sz="1100" dirty="0">
                        <a:latin typeface="Calibri" charset="0"/>
                        <a:ea typeface="Calibri" charset="0"/>
                        <a:cs typeface="Calibri" charset="0"/>
                      </a:endParaRPr>
                    </a:p>
                  </a:txBody>
                  <a:tcPr marL="45720" marR="4572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Chips for department and resources, scope check, citation check, rephrase with an example (max 2 retries), timeout shows stored reasons + Try again</a:t>
                      </a:r>
                      <a:endParaRPr lang="en-US" sz="1100" dirty="0">
                        <a:latin typeface="Calibri" charset="0"/>
                        <a:ea typeface="Calibri" charset="0"/>
                        <a:cs typeface="Calibri" charset="0"/>
                      </a:endParaRPr>
                    </a:p>
                  </a:txBody>
                  <a:tcPr marL="45720" marR="4572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6. Permit Easy Reversal</a:t>
                      </a:r>
                      <a:endParaRPr lang="en-US" sz="1100" dirty="0">
                        <a:latin typeface="Calibri" charset="0"/>
                        <a:ea typeface="Calibri" charset="0"/>
                        <a:cs typeface="Calibri" charset="0"/>
                      </a:endParaRPr>
                    </a:p>
                  </a:txBody>
                  <a:tcPr marL="45720" marR="4572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Back, Edit profile, Undo, "None fits", Start over</a:t>
                      </a:r>
                      <a:endParaRPr lang="en-US" sz="1100" dirty="0">
                        <a:latin typeface="Calibri" charset="0"/>
                        <a:ea typeface="Calibri" charset="0"/>
                        <a:cs typeface="Calibri" charset="0"/>
                      </a:endParaRPr>
                    </a:p>
                  </a:txBody>
                  <a:tcPr marL="45720" marR="4572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7. Support Sense Of Control</a:t>
                      </a:r>
                      <a:endParaRPr lang="en-US" sz="1100" dirty="0">
                        <a:latin typeface="Calibri" charset="0"/>
                        <a:ea typeface="Calibri" charset="0"/>
                        <a:cs typeface="Calibri" charset="0"/>
                      </a:endParaRPr>
                    </a:p>
                  </a:txBody>
                  <a:tcPr marL="45720" marR="4572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User picks the direction, edits skills and resources, opens "Why this?", rejects a suggestion</a:t>
                      </a:r>
                      <a:endParaRPr lang="en-US" sz="1100" dirty="0">
                        <a:latin typeface="Calibri" charset="0"/>
                        <a:ea typeface="Calibri" charset="0"/>
                        <a:cs typeface="Calibri" charset="0"/>
                      </a:endParaRPr>
                    </a:p>
                  </a:txBody>
                  <a:tcPr marL="45720" marR="4572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8. Reduce Short-Term Memory Load</a:t>
                      </a:r>
                      <a:endParaRPr lang="en-US" sz="1100" dirty="0">
                        <a:latin typeface="Calibri" charset="0"/>
                        <a:ea typeface="Calibri" charset="0"/>
                        <a:cs typeface="Calibri" charset="0"/>
                      </a:endParaRPr>
                    </a:p>
                  </a:txBody>
                  <a:tcPr marL="45720" marR="4572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Profile summary strip always visible, one question at a time, chips show the options, paper titles not only IDs</a:t>
                      </a:r>
                      <a:endParaRPr lang="en-US" sz="1100" dirty="0">
                        <a:latin typeface="Calibri" charset="0"/>
                        <a:ea typeface="Calibri" charset="0"/>
                        <a:cs typeface="Calibri" charset="0"/>
                      </a:endParaRPr>
                    </a:p>
                  </a:txBody>
                  <a:tcPr marL="45720" marR="4572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4" name="Text 1"/>
          <p:cNvSpPr txBox="1"/>
          <p:nvPr/>
        </p:nvSpPr>
        <p:spPr>
          <a:xfrm>
            <a:off x="457200" y="4572000"/>
            <a:ext cx="8229600" cy="274320"/>
          </a:xfrm>
          <a:prstGeom prst="rect">
            <a:avLst/>
          </a:prstGeom>
          <a:noFill/>
          <a:ln/>
        </p:spPr>
        <p:txBody>
          <a:bodyPr wrap="square" lIns="0" tIns="0" rIns="0" bIns="0" rtlCol="0" anchor="t"/>
          <a:lstStyle/>
          <a:p>
            <a:pPr marL="0" indent="0">
              <a:buNone/>
            </a:pPr>
            <a:r>
              <a:rPr lang="en-US" sz="1000" dirty="0">
                <a:solidFill>
                  <a:srgbClr val="5F5E5A"/>
                </a:solidFill>
                <a:latin typeface="Calibri" pitchFamily="34" charset="0"/>
                <a:ea typeface="Calibri" pitchFamily="34" charset="-122"/>
                <a:cs typeface="Calibri" pitchFamily="34" charset="-120"/>
              </a:rPr>
              <a:t>Planned, not built yet: step indicator, profile summary strip, paste-profile shortcut.</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2263A"/>
                </a:solidFill>
                <a:latin typeface="Cambria" pitchFamily="34" charset="0"/>
                <a:ea typeface="Cambria" pitchFamily="34" charset="-122"/>
                <a:cs typeface="Cambria" pitchFamily="34" charset="-120"/>
              </a:rPr>
              <a:t>First Model Response From Our Own Backend</a:t>
            </a:r>
            <a:endParaRPr lang="en-US" sz="2800" dirty="0"/>
          </a:p>
        </p:txBody>
      </p:sp>
      <p:sp>
        <p:nvSpPr>
          <p:cNvPr id="3" name="Text 1"/>
          <p:cNvSpPr txBox="1"/>
          <p:nvPr/>
        </p:nvSpPr>
        <p:spPr>
          <a:xfrm>
            <a:off x="457200" y="960120"/>
            <a:ext cx="4023360" cy="640080"/>
          </a:xfrm>
          <a:prstGeom prst="rect">
            <a:avLst/>
          </a:prstGeom>
          <a:noFill/>
          <a:ln/>
        </p:spPr>
        <p:txBody>
          <a:bodyPr wrap="square" lIns="0" tIns="0" rIns="0" bIns="0" rtlCol="0" anchor="ctr"/>
          <a:lstStyle/>
          <a:p>
            <a:pPr marL="0" indent="0">
              <a:buNone/>
            </a:pPr>
            <a:r>
              <a:rPr lang="en-US" sz="4000" b="1" dirty="0">
                <a:solidFill>
                  <a:srgbClr val="D85A30"/>
                </a:solidFill>
                <a:latin typeface="Cambria" pitchFamily="34" charset="0"/>
                <a:ea typeface="Cambria" pitchFamily="34" charset="-122"/>
                <a:cs typeface="Cambria" pitchFamily="34" charset="-120"/>
              </a:rPr>
              <a:t>150 s</a:t>
            </a:r>
            <a:endParaRPr lang="en-US" sz="4000" dirty="0"/>
          </a:p>
        </p:txBody>
      </p:sp>
      <p:sp>
        <p:nvSpPr>
          <p:cNvPr id="4" name="Text 2"/>
          <p:cNvSpPr txBox="1"/>
          <p:nvPr/>
        </p:nvSpPr>
        <p:spPr>
          <a:xfrm>
            <a:off x="457200" y="1600200"/>
            <a:ext cx="4023360" cy="274320"/>
          </a:xfrm>
          <a:prstGeom prst="rect">
            <a:avLst/>
          </a:prstGeom>
          <a:noFill/>
          <a:ln/>
        </p:spPr>
        <p:txBody>
          <a:bodyPr wrap="square" lIns="0" tIns="0" rIns="0" bIns="0" rtlCol="0" anchor="t"/>
          <a:lstStyle/>
          <a:p>
            <a:pPr marL="0" indent="0">
              <a:buNone/>
            </a:pPr>
            <a:r>
              <a:rPr lang="en-US" sz="1000" dirty="0">
                <a:solidFill>
                  <a:srgbClr val="5F5E5A"/>
                </a:solidFill>
                <a:latin typeface="Calibri" pitchFamily="34" charset="0"/>
                <a:ea typeface="Calibri" pitchFamily="34" charset="-122"/>
                <a:cs typeface="Calibri" pitchFamily="34" charset="-120"/>
              </a:rPr>
              <a:t>gemini-3.7-flash, first reply through our Flask backend</a:t>
            </a:r>
            <a:endParaRPr lang="en-US" sz="1000" dirty="0"/>
          </a:p>
        </p:txBody>
      </p:sp>
      <p:sp>
        <p:nvSpPr>
          <p:cNvPr id="5" name="Text 3"/>
          <p:cNvSpPr txBox="1"/>
          <p:nvPr/>
        </p:nvSpPr>
        <p:spPr>
          <a:xfrm>
            <a:off x="4663440" y="960120"/>
            <a:ext cx="4023360" cy="640080"/>
          </a:xfrm>
          <a:prstGeom prst="rect">
            <a:avLst/>
          </a:prstGeom>
          <a:noFill/>
          <a:ln/>
        </p:spPr>
        <p:txBody>
          <a:bodyPr wrap="square" lIns="0" tIns="0" rIns="0" bIns="0" rtlCol="0" anchor="ctr"/>
          <a:lstStyle/>
          <a:p>
            <a:pPr marL="0" indent="0">
              <a:buNone/>
            </a:pPr>
            <a:r>
              <a:rPr lang="en-US" sz="4000" b="1" dirty="0">
                <a:solidFill>
                  <a:srgbClr val="0F6E56"/>
                </a:solidFill>
                <a:latin typeface="Cambria" pitchFamily="34" charset="0"/>
                <a:ea typeface="Cambria" pitchFamily="34" charset="-122"/>
                <a:cs typeface="Cambria" pitchFamily="34" charset="-120"/>
              </a:rPr>
              <a:t>4.9 s</a:t>
            </a:r>
            <a:endParaRPr lang="en-US" sz="4000" dirty="0"/>
          </a:p>
        </p:txBody>
      </p:sp>
      <p:sp>
        <p:nvSpPr>
          <p:cNvPr id="6" name="Text 4"/>
          <p:cNvSpPr txBox="1"/>
          <p:nvPr/>
        </p:nvSpPr>
        <p:spPr>
          <a:xfrm>
            <a:off x="4663440" y="1600200"/>
            <a:ext cx="4023360" cy="274320"/>
          </a:xfrm>
          <a:prstGeom prst="rect">
            <a:avLst/>
          </a:prstGeom>
          <a:noFill/>
          <a:ln/>
        </p:spPr>
        <p:txBody>
          <a:bodyPr wrap="square" lIns="0" tIns="0" rIns="0" bIns="0" rtlCol="0" anchor="t"/>
          <a:lstStyle/>
          <a:p>
            <a:pPr marL="0" indent="0">
              <a:buNone/>
            </a:pPr>
            <a:r>
              <a:rPr lang="en-US" sz="1000" dirty="0">
                <a:solidFill>
                  <a:srgbClr val="5F5E5A"/>
                </a:solidFill>
                <a:latin typeface="Calibri" pitchFamily="34" charset="0"/>
                <a:ea typeface="Calibri" pitchFamily="34" charset="-122"/>
                <a:cs typeface="Calibri" pitchFamily="34" charset="-120"/>
              </a:rPr>
              <a:t>gemini-3.1-flash-lite, after our speed test</a:t>
            </a:r>
            <a:endParaRPr lang="en-US" sz="1000" dirty="0"/>
          </a:p>
        </p:txBody>
      </p:sp>
      <p:pic>
        <p:nvPicPr>
          <p:cNvPr id="7" name="Image 0" descr="/mnt/user-data/uploads/1793562040020_photo_2026-11-01_21-31-13.jpg"/>
          <p:cNvPicPr>
            <a:picLocks noChangeAspect="1"/>
          </p:cNvPicPr>
          <p:nvPr/>
        </p:nvPicPr>
        <p:blipFill>
          <a:blip r:embed="rId3"/>
          <a:srcRect/>
          <a:stretch/>
        </p:blipFill>
        <p:spPr>
          <a:xfrm>
            <a:off x="457200" y="2057400"/>
            <a:ext cx="8229600" cy="1188720"/>
          </a:xfrm>
          <a:prstGeom prst="rect">
            <a:avLst/>
          </a:prstGeom>
        </p:spPr>
      </p:pic>
      <p:sp>
        <p:nvSpPr>
          <p:cNvPr id="8" name="Text 5"/>
          <p:cNvSpPr txBox="1"/>
          <p:nvPr/>
        </p:nvSpPr>
        <p:spPr>
          <a:xfrm>
            <a:off x="457200" y="3383280"/>
            <a:ext cx="8229600" cy="365760"/>
          </a:xfrm>
          <a:prstGeom prst="rect">
            <a:avLst/>
          </a:prstGeom>
          <a:noFill/>
          <a:ln/>
        </p:spPr>
        <p:txBody>
          <a:bodyPr wrap="square" lIns="0" tIns="0" rIns="0" bIns="0" rtlCol="0" anchor="t"/>
          <a:lstStyle/>
          <a:p>
            <a:pPr marL="0" indent="0">
              <a:buNone/>
            </a:pPr>
            <a:r>
              <a:rPr lang="en-US" sz="1000" dirty="0">
                <a:solidFill>
                  <a:srgbClr val="5F5E5A"/>
                </a:solidFill>
                <a:latin typeface="Calibri" pitchFamily="34" charset="0"/>
                <a:ea typeface="Calibri" pitchFamily="34" charset="-122"/>
                <a:cs typeface="Calibri" pitchFamily="34" charset="-120"/>
              </a:rPr>
              <a:t>Left: test client (Status 200, 4.9 s). Right: Flask server log (POST /chat 200). </a:t>
            </a:r>
          </a:p>
          <a:p>
            <a:pPr marL="0" indent="0">
              <a:buNone/>
            </a:pPr>
            <a:r>
              <a:rPr lang="en-US" sz="1000" dirty="0">
                <a:solidFill>
                  <a:srgbClr val="5F5E5A"/>
                </a:solidFill>
                <a:latin typeface="Calibri" pitchFamily="34" charset="0"/>
                <a:ea typeface="Calibri" pitchFamily="34" charset="-122"/>
                <a:cs typeface="Calibri" pitchFamily="34" charset="-120"/>
              </a:rPr>
              <a:t>The red line was added to separate the two terminals.</a:t>
            </a:r>
            <a:endParaRPr lang="en-US" sz="1000" dirty="0"/>
          </a:p>
        </p:txBody>
      </p:sp>
      <p:sp>
        <p:nvSpPr>
          <p:cNvPr id="9" name="Text 6"/>
          <p:cNvSpPr txBox="1"/>
          <p:nvPr/>
        </p:nvSpPr>
        <p:spPr>
          <a:xfrm>
            <a:off x="457200" y="3840480"/>
            <a:ext cx="8229600" cy="274320"/>
          </a:xfrm>
          <a:prstGeom prst="rect">
            <a:avLst/>
          </a:prstGeom>
          <a:noFill/>
          <a:ln/>
        </p:spPr>
        <p:txBody>
          <a:bodyPr wrap="square" lIns="0" tIns="0" rIns="0" bIns="0" rtlCol="0" anchor="t"/>
          <a:lstStyle/>
          <a:p>
            <a:pPr marL="0" indent="0">
              <a:buNone/>
            </a:pPr>
            <a:r>
              <a:rPr lang="en-US" sz="1000" dirty="0">
                <a:solidFill>
                  <a:srgbClr val="5F5E5A"/>
                </a:solidFill>
                <a:latin typeface="Calibri" pitchFamily="34" charset="0"/>
                <a:ea typeface="Calibri" pitchFamily="34" charset="-122"/>
                <a:cs typeface="Calibri" pitchFamily="34" charset="-120"/>
              </a:rPr>
              <a:t>Model is set in .env. The API key is in .env, ignored by Git, and not in the repository.</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2263A"/>
                </a:solidFill>
                <a:latin typeface="Cambria" pitchFamily="34" charset="0"/>
                <a:ea typeface="Cambria" pitchFamily="34" charset="-122"/>
                <a:cs typeface="Cambria" pitchFamily="34" charset="-120"/>
              </a:rPr>
              <a:t>AI Prompt Log (1 Of 2)</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2275545260"/>
              </p:ext>
            </p:extLst>
          </p:nvPr>
        </p:nvGraphicFramePr>
        <p:xfrm>
          <a:off x="365760" y="920750"/>
          <a:ext cx="8412480" cy="2971800"/>
        </p:xfrm>
        <a:graphic>
          <a:graphicData uri="http://schemas.openxmlformats.org/drawingml/2006/table">
            <a:tbl>
              <a:tblPr/>
              <a:tblGrid>
                <a:gridCol w="32004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0">
                <a:tc>
                  <a:txBody>
                    <a:bodyPr/>
                    <a:lstStyle/>
                    <a:p>
                      <a:pPr marL="0" indent="0" algn="l" rt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12263A"/>
                    </a:solidFill>
                  </a:tcPr>
                </a:tc>
                <a:tc>
                  <a:txBody>
                    <a:bodyPr/>
                    <a:lstStyle/>
                    <a:p>
                      <a:pPr marL="0" indent="0" algn="l" rtl="0">
                        <a:buNone/>
                      </a:pPr>
                      <a:r>
                        <a:rPr lang="en-US" sz="1100" b="1" dirty="0">
                          <a:solidFill>
                            <a:srgbClr val="FFFFFF"/>
                          </a:solidFill>
                          <a:latin typeface="Calibri" pitchFamily="34" charset="0"/>
                          <a:ea typeface="Calibri" pitchFamily="34" charset="-122"/>
                          <a:cs typeface="Calibri" pitchFamily="34" charset="-120"/>
                        </a:rPr>
                        <a:t>Tool</a:t>
                      </a:r>
                      <a:endParaRPr lang="en-US" sz="1100" dirty="0">
                        <a:latin typeface="Calibri" charset="0"/>
                        <a:ea typeface="Calibri" charset="0"/>
                        <a:cs typeface="Calibri"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12263A"/>
                    </a:solidFill>
                  </a:tcPr>
                </a:tc>
                <a:tc>
                  <a:txBody>
                    <a:bodyPr/>
                    <a:lstStyle/>
                    <a:p>
                      <a:pPr marL="0" indent="0" algn="l" rtl="0">
                        <a:buNone/>
                      </a:pPr>
                      <a:r>
                        <a:rPr lang="en-US" sz="1100" b="1" dirty="0">
                          <a:solidFill>
                            <a:srgbClr val="FFFFFF"/>
                          </a:solidFill>
                          <a:latin typeface="Calibri" pitchFamily="34" charset="0"/>
                          <a:ea typeface="Calibri" pitchFamily="34" charset="-122"/>
                          <a:cs typeface="Calibri" pitchFamily="34" charset="-120"/>
                        </a:rPr>
                        <a:t>Exact Prompt (Original Wording)</a:t>
                      </a:r>
                      <a:endParaRPr lang="en-US" sz="1100" dirty="0">
                        <a:latin typeface="Calibri" charset="0"/>
                        <a:ea typeface="Calibri" charset="0"/>
                        <a:cs typeface="Calibri"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12263A"/>
                    </a:solidFill>
                  </a:tcPr>
                </a:tc>
                <a:tc>
                  <a:txBody>
                    <a:bodyPr/>
                    <a:lstStyle/>
                    <a:p>
                      <a:pPr marL="0" indent="0" algn="l" rtl="0">
                        <a:buNone/>
                      </a:pPr>
                      <a:r>
                        <a:rPr lang="en-US" sz="1100" b="1" dirty="0">
                          <a:solidFill>
                            <a:srgbClr val="FFFFFF"/>
                          </a:solidFill>
                          <a:latin typeface="Calibri" pitchFamily="34" charset="0"/>
                          <a:ea typeface="Calibri" pitchFamily="34" charset="-122"/>
                          <a:cs typeface="Calibri" pitchFamily="34" charset="-120"/>
                        </a:rPr>
                        <a:t>What It Gave</a:t>
                      </a:r>
                      <a:endParaRPr lang="en-US" sz="1100" dirty="0">
                        <a:latin typeface="Calibri" charset="0"/>
                        <a:ea typeface="Calibri" charset="0"/>
                        <a:cs typeface="Calibri"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12263A"/>
                    </a:solidFill>
                  </a:tcPr>
                </a:tc>
                <a:tc>
                  <a:txBody>
                    <a:bodyPr/>
                    <a:lstStyle/>
                    <a:p>
                      <a:pPr marL="0" indent="0" algn="l" rtl="0">
                        <a:buNone/>
                      </a:pPr>
                      <a:r>
                        <a:rPr lang="en-US" sz="1100" b="1" dirty="0">
                          <a:solidFill>
                            <a:srgbClr val="FFFFFF"/>
                          </a:solidFill>
                          <a:latin typeface="Calibri" pitchFamily="34" charset="0"/>
                          <a:ea typeface="Calibri" pitchFamily="34" charset="-122"/>
                          <a:cs typeface="Calibri" pitchFamily="34" charset="-120"/>
                        </a:rPr>
                        <a:t>What We Changed And Why</a:t>
                      </a:r>
                      <a:endParaRPr lang="en-US" sz="1100" dirty="0">
                        <a:latin typeface="Calibri" charset="0"/>
                        <a:ea typeface="Calibri" charset="0"/>
                        <a:cs typeface="Calibri"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12263A"/>
                    </a:solidFill>
                  </a:tcPr>
                </a:tc>
                <a:extLst>
                  <a:ext uri="{0D108BD9-81ED-4DB2-BD59-A6C34878D82A}">
                    <a16:rowId xmlns:a16="http://schemas.microsoft.com/office/drawing/2014/main" val="10000"/>
                  </a:ext>
                </a:extLst>
              </a:tr>
              <a:tr h="0">
                <a:tc>
                  <a:txBody>
                    <a:bodyPr/>
                    <a:lstStyle/>
                    <a:p>
                      <a:pPr marL="0" indent="0" algn="l" rtl="0">
                        <a:buNone/>
                      </a:pPr>
                      <a:r>
                        <a:rPr lang="en-US" sz="1100" b="1" dirty="0">
                          <a:solidFill>
                            <a:srgbClr val="1F2937"/>
                          </a:solidFill>
                          <a:latin typeface="Times New Roman" panose="02020603050405020304" pitchFamily="18" charset="0"/>
                          <a:ea typeface="Calibri" pitchFamily="34" charset="-122"/>
                          <a:cs typeface="Times New Roman" panose="02020603050405020304" pitchFamily="18" charset="0"/>
                        </a:rPr>
                        <a:t>1</a:t>
                      </a:r>
                      <a:endParaRPr lang="en-US" sz="1100" b="1"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100" b="1" dirty="0">
                          <a:solidFill>
                            <a:srgbClr val="1F2937"/>
                          </a:solidFill>
                          <a:latin typeface="Times New Roman" panose="02020603050405020304" pitchFamily="18" charset="0"/>
                          <a:ea typeface="Calibri" pitchFamily="34" charset="-122"/>
                          <a:cs typeface="Times New Roman" panose="02020603050405020304" pitchFamily="18" charset="0"/>
                        </a:rPr>
                        <a:t>Claude</a:t>
                      </a:r>
                      <a:endParaRPr lang="en-US" sz="1100" b="1"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(Week 5 Message Pasted First)</a:t>
                      </a:r>
                      <a:endParaRPr lang="en-US" sz="1000" dirty="0">
                        <a:latin typeface="Times New Roman" panose="02020603050405020304" pitchFamily="18" charset="0"/>
                        <a:ea typeface="Calibri" charset="0"/>
                        <a:cs typeface="Times New Roman" panose="02020603050405020304" pitchFamily="18" charset="0"/>
                      </a:endParaRPr>
                    </a:p>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I need you to read the message and understand exactly what it means and what we need to do to start working.</a:t>
                      </a:r>
                    </a:p>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One last question: Is this message only for practical implementation, or will there also be a file to submit?</a:t>
                      </a:r>
                      <a:endParaRPr lang="en-US" sz="1000"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Explained the five deliverables, a work order, and that the task needs both a file and a working demo.</a:t>
                      </a:r>
                      <a:endParaRPr lang="en-US" sz="1000"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Used it as our work plan; added the TA's instruction to upload everything to our GitHub repository.</a:t>
                      </a:r>
                      <a:endParaRPr lang="en-US" sz="1000"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rtl="0">
                        <a:buNone/>
                      </a:pPr>
                      <a:r>
                        <a:rPr lang="en-US" sz="1100" b="1" dirty="0">
                          <a:solidFill>
                            <a:srgbClr val="1F2937"/>
                          </a:solidFill>
                          <a:latin typeface="Times New Roman" panose="02020603050405020304" pitchFamily="18" charset="0"/>
                          <a:ea typeface="Calibri" pitchFamily="34" charset="-122"/>
                          <a:cs typeface="Times New Roman" panose="02020603050405020304" pitchFamily="18" charset="0"/>
                        </a:rPr>
                        <a:t>2</a:t>
                      </a:r>
                      <a:endParaRPr lang="en-US" sz="1100" b="1"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100" b="1" dirty="0">
                          <a:solidFill>
                            <a:srgbClr val="1F2937"/>
                          </a:solidFill>
                          <a:latin typeface="Times New Roman" panose="02020603050405020304" pitchFamily="18" charset="0"/>
                          <a:ea typeface="Calibri" pitchFamily="34" charset="-122"/>
                          <a:cs typeface="Times New Roman" panose="02020603050405020304" pitchFamily="18" charset="0"/>
                        </a:rPr>
                        <a:t>Claude</a:t>
                      </a:r>
                      <a:endParaRPr lang="en-US" sz="1100" b="1"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Okay, one last question because I'm a bit confused.</a:t>
                      </a:r>
                    </a:p>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Should we start with the coding phase first?</a:t>
                      </a:r>
                    </a:p>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Or will we create the files first and then move on to the coding?</a:t>
                      </a:r>
                    </a:p>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If we create the files first, then start with the files for the fifth week's message, and when we get to the required coding section, we'll look at all the Gemini issues and any other problems.</a:t>
                      </a:r>
                      <a:endParaRPr lang="en-US" sz="1000"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Decision: design files first, code second. A nine-step flow draft with error recovery, fallback and handover, then the diagram and the exact bot messages.</a:t>
                      </a:r>
                      <a:endParaRPr lang="en-US" sz="1000"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Asked for a plainer explanation because the first draft was too dense. Decided on one flow diagram for the whole bot (not one per persona), with all text in English.</a:t>
                      </a:r>
                      <a:endParaRPr lang="en-US" sz="1000"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rtl="0">
                        <a:buNone/>
                      </a:pPr>
                      <a:r>
                        <a:rPr lang="en-US" sz="1100" b="1" dirty="0">
                          <a:solidFill>
                            <a:srgbClr val="1F2937"/>
                          </a:solidFill>
                          <a:latin typeface="Times New Roman" panose="02020603050405020304" pitchFamily="18" charset="0"/>
                          <a:ea typeface="Calibri" pitchFamily="34" charset="-122"/>
                          <a:cs typeface="Times New Roman" panose="02020603050405020304" pitchFamily="18" charset="0"/>
                        </a:rPr>
                        <a:t>3</a:t>
                      </a:r>
                      <a:endParaRPr lang="en-US" sz="1100" b="1"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100" b="1" dirty="0">
                          <a:solidFill>
                            <a:srgbClr val="1F2937"/>
                          </a:solidFill>
                          <a:latin typeface="Times New Roman" panose="02020603050405020304" pitchFamily="18" charset="0"/>
                          <a:ea typeface="Calibri" pitchFamily="34" charset="-122"/>
                          <a:cs typeface="Times New Roman" panose="02020603050405020304" pitchFamily="18" charset="0"/>
                        </a:rPr>
                        <a:t>Claude</a:t>
                      </a:r>
                      <a:endParaRPr lang="en-US" sz="1100" b="1"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Can you explain what "step 3 of 7" is? I don't understand what the "7" is or what it refers to.</a:t>
                      </a:r>
                      <a:endParaRPr lang="en-US" sz="1000"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The 7 was a box count the AI chose. It recommended 5 stages matching our Milestone 1 stages.</a:t>
                      </a:r>
                      <a:endParaRPr lang="en-US" sz="1000"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The step indicator now uses our five approved stages, so the checklist, flow and Milestone 1 share the same numbers.</a:t>
                      </a:r>
                      <a:endParaRPr lang="en-US" sz="1000"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12263A"/>
                </a:solidFill>
                <a:latin typeface="Cambria" pitchFamily="34" charset="0"/>
                <a:ea typeface="Cambria" pitchFamily="34" charset="-122"/>
                <a:cs typeface="Cambria" pitchFamily="34" charset="-120"/>
              </a:rPr>
              <a:t>AI Prompt Log (2 Of 2)</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3450915007"/>
              </p:ext>
            </p:extLst>
          </p:nvPr>
        </p:nvGraphicFramePr>
        <p:xfrm>
          <a:off x="365760" y="914400"/>
          <a:ext cx="8412480" cy="2118360"/>
        </p:xfrm>
        <a:graphic>
          <a:graphicData uri="http://schemas.openxmlformats.org/drawingml/2006/table">
            <a:tbl>
              <a:tblPr/>
              <a:tblGrid>
                <a:gridCol w="32004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0">
                <a:tc>
                  <a:txBody>
                    <a:bodyPr/>
                    <a:lstStyle/>
                    <a:p>
                      <a:pPr marL="0" indent="0" algn="l" rtl="0">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a:t>
                      </a:r>
                      <a:endParaRPr lang="en-US" sz="1100"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12263A"/>
                    </a:solidFill>
                  </a:tcPr>
                </a:tc>
                <a:tc>
                  <a:txBody>
                    <a:bodyPr/>
                    <a:lstStyle/>
                    <a:p>
                      <a:pPr marL="0" indent="0" algn="l" rtl="0">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Tool</a:t>
                      </a:r>
                      <a:endParaRPr lang="en-US" sz="1100"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12263A"/>
                    </a:solidFill>
                  </a:tcPr>
                </a:tc>
                <a:tc>
                  <a:txBody>
                    <a:bodyPr/>
                    <a:lstStyle/>
                    <a:p>
                      <a:pPr marL="0" indent="0" algn="l" rtl="0">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Exact Prompt (Original Wording)</a:t>
                      </a:r>
                      <a:endParaRPr lang="en-US" sz="1100"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12263A"/>
                    </a:solidFill>
                  </a:tcPr>
                </a:tc>
                <a:tc>
                  <a:txBody>
                    <a:bodyPr/>
                    <a:lstStyle/>
                    <a:p>
                      <a:pPr marL="0" indent="0" algn="l" rtl="0">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What It Gave</a:t>
                      </a:r>
                      <a:endParaRPr lang="en-US" sz="1100"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12263A"/>
                    </a:solidFill>
                  </a:tcPr>
                </a:tc>
                <a:tc>
                  <a:txBody>
                    <a:bodyPr/>
                    <a:lstStyle/>
                    <a:p>
                      <a:pPr marL="0" indent="0" algn="l" rtl="0">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What We Changed And Why</a:t>
                      </a:r>
                      <a:endParaRPr lang="en-US" sz="1100"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12263A"/>
                    </a:solidFill>
                  </a:tcPr>
                </a:tc>
                <a:extLst>
                  <a:ext uri="{0D108BD9-81ED-4DB2-BD59-A6C34878D82A}">
                    <a16:rowId xmlns:a16="http://schemas.microsoft.com/office/drawing/2014/main" val="10000"/>
                  </a:ext>
                </a:extLst>
              </a:tr>
              <a:tr h="0">
                <a:tc>
                  <a:txBody>
                    <a:bodyPr/>
                    <a:lstStyle/>
                    <a:p>
                      <a:pPr marL="0" indent="0" algn="l" rtl="0">
                        <a:buNone/>
                      </a:pPr>
                      <a:r>
                        <a:rPr lang="en-US" sz="1100" b="1" dirty="0">
                          <a:solidFill>
                            <a:srgbClr val="1F2937"/>
                          </a:solidFill>
                          <a:latin typeface="Times New Roman" panose="02020603050405020304" pitchFamily="18" charset="0"/>
                          <a:ea typeface="Calibri" pitchFamily="34" charset="-122"/>
                          <a:cs typeface="Times New Roman" panose="02020603050405020304" pitchFamily="18" charset="0"/>
                        </a:rPr>
                        <a:t>4</a:t>
                      </a:r>
                      <a:endParaRPr lang="en-US" sz="1100" b="1"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100" b="1" dirty="0">
                          <a:solidFill>
                            <a:srgbClr val="1F2937"/>
                          </a:solidFill>
                          <a:latin typeface="Times New Roman" panose="02020603050405020304" pitchFamily="18" charset="0"/>
                          <a:ea typeface="Calibri" pitchFamily="34" charset="-122"/>
                          <a:cs typeface="Times New Roman" panose="02020603050405020304" pitchFamily="18" charset="0"/>
                        </a:rPr>
                        <a:t>Claude</a:t>
                      </a:r>
                      <a:endParaRPr lang="en-US" sz="1100" b="1"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000" dirty="0">
                          <a:latin typeface="Times New Roman" panose="02020603050405020304" pitchFamily="18" charset="0"/>
                          <a:ea typeface="Calibri" charset="0"/>
                          <a:cs typeface="Times New Roman" panose="02020603050405020304" pitchFamily="18" charset="0"/>
                        </a:rPr>
                        <a:t>Go ahead and draw the architecture diagram.</a:t>
                      </a:r>
                    </a:p>
                    <a:p>
                      <a:pPr marL="0" indent="0" algn="l" rtl="0">
                        <a:buNone/>
                      </a:pPr>
                      <a:r>
                        <a:rPr lang="en-US" sz="1000" dirty="0">
                          <a:latin typeface="Times New Roman" panose="02020603050405020304" pitchFamily="18" charset="0"/>
                          <a:ea typeface="Calibri" charset="0"/>
                          <a:cs typeface="Times New Roman" panose="02020603050405020304" pitchFamily="18" charset="0"/>
                        </a:rPr>
                        <a:t>Go ahead and draw the checklist diagram.</a:t>
                      </a: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An architecture diagram marking the explainability feature, and an 8-row checklist. It warned that three checklist items are not in the flow yet.</a:t>
                      </a:r>
                      <a:endParaRPr lang="en-US" sz="1000"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We still have to build those three items or remove them from the checklist, because we can only claim what the demo shows.</a:t>
                      </a:r>
                      <a:endParaRPr lang="en-US" sz="1000"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rtl="0">
                        <a:buNone/>
                      </a:pPr>
                      <a:r>
                        <a:rPr lang="en-US" sz="1100" b="1" dirty="0">
                          <a:solidFill>
                            <a:srgbClr val="1F2937"/>
                          </a:solidFill>
                          <a:latin typeface="Times New Roman" panose="02020603050405020304" pitchFamily="18" charset="0"/>
                          <a:ea typeface="Calibri" pitchFamily="34" charset="-122"/>
                          <a:cs typeface="Times New Roman" panose="02020603050405020304" pitchFamily="18" charset="0"/>
                        </a:rPr>
                        <a:t>5</a:t>
                      </a:r>
                      <a:endParaRPr lang="en-US" sz="1100" b="1"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100" b="1" dirty="0">
                          <a:solidFill>
                            <a:srgbClr val="1F2937"/>
                          </a:solidFill>
                          <a:latin typeface="Times New Roman" panose="02020603050405020304" pitchFamily="18" charset="0"/>
                          <a:ea typeface="Calibri" pitchFamily="34" charset="-122"/>
                          <a:cs typeface="Times New Roman" panose="02020603050405020304" pitchFamily="18" charset="0"/>
                        </a:rPr>
                        <a:t>Claude</a:t>
                      </a:r>
                      <a:endParaRPr lang="en-US" sz="1100" b="1"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Now let's move on to the last thing, which is the code.</a:t>
                      </a:r>
                    </a:p>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Honestly, I don't know exactly what to do in Google Studio because it's my first time using it.</a:t>
                      </a:r>
                    </a:p>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I logged in yesterday, but I didn't understand anything and didn't know what to do.</a:t>
                      </a:r>
                    </a:p>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So, if you could please tell me what steps I should take, and let's go through them step by step.</a:t>
                      </a:r>
                      <a:endParaRPr lang="en-US" sz="1000"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Key-creation steps, project setup, test scripts and a Flask app with /health and /chat.</a:t>
                      </a:r>
                      <a:endParaRPr lang="en-US" sz="1000"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marL="0" indent="0" algn="l" rtl="0">
                        <a:buNone/>
                      </a:pPr>
                      <a:r>
                        <a:rPr lang="en-US" sz="1000" dirty="0">
                          <a:solidFill>
                            <a:srgbClr val="1F2937"/>
                          </a:solidFill>
                          <a:latin typeface="Times New Roman" panose="02020603050405020304" pitchFamily="18" charset="0"/>
                          <a:ea typeface="Calibri" pitchFamily="34" charset="-122"/>
                          <a:cs typeface="Times New Roman" panose="02020603050405020304" pitchFamily="18" charset="0"/>
                        </a:rPr>
                        <a:t>Recreated backend inside the repo. First reply took 148.9 s with gemini-3.7-flash; speed test: 103.1 s vs 0.7 s for gemini-3.1-flash-lite, so we switched (3.2 to 4.9 s). Raised test timeout from 60 to 180 s.</a:t>
                      </a:r>
                      <a:endParaRPr lang="en-US" sz="1000" dirty="0">
                        <a:latin typeface="Times New Roman" panose="02020603050405020304" pitchFamily="18" charset="0"/>
                        <a:ea typeface="Calibri" charset="0"/>
                        <a:cs typeface="Times New Roman" panose="02020603050405020304" pitchFamily="18" charset="0"/>
                      </a:endParaRPr>
                    </a:p>
                  </a:txBody>
                  <a:tcPr marL="45720" marR="45720">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Text 1"/>
          <p:cNvSpPr txBox="1"/>
          <p:nvPr/>
        </p:nvSpPr>
        <p:spPr>
          <a:xfrm>
            <a:off x="457200" y="4572000"/>
            <a:ext cx="8229600" cy="274320"/>
          </a:xfrm>
          <a:prstGeom prst="rect">
            <a:avLst/>
          </a:prstGeom>
          <a:noFill/>
          <a:ln/>
        </p:spPr>
        <p:txBody>
          <a:bodyPr wrap="square" lIns="0" tIns="0" rIns="0" bIns="0" rtlCol="0" anchor="t"/>
          <a:lstStyle/>
          <a:p>
            <a:pPr marL="0" indent="0">
              <a:buNone/>
            </a:pPr>
            <a:r>
              <a:rPr lang="en-US" sz="1000" dirty="0">
                <a:solidFill>
                  <a:srgbClr val="5F5E5A"/>
                </a:solidFill>
                <a:latin typeface="Calibri" pitchFamily="34" charset="0"/>
                <a:ea typeface="Calibri" pitchFamily="34" charset="-122"/>
                <a:cs typeface="Calibri" pitchFamily="34" charset="-120"/>
              </a:rPr>
              <a:t>These entries summarize the key prompts of Week 5. We keep the full chat history as backup.</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1406</Words>
  <Application>Microsoft Office PowerPoint</Application>
  <PresentationFormat>On-screen Show (16:9)</PresentationFormat>
  <Paragraphs>157</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Research Roadmap Agent - Week 5</dc:title>
  <dc:subject>PptxGenJS Presentation</dc:subject>
  <dc:creator>PptxGenJS</dc:creator>
  <cp:lastModifiedBy>عبدالله عماد الدساوى محمد</cp:lastModifiedBy>
  <cp:revision>2</cp:revision>
  <dcterms:created xsi:type="dcterms:W3CDTF">2026-11-01T20:00:47Z</dcterms:created>
  <dcterms:modified xsi:type="dcterms:W3CDTF">2026-11-01T20:38:35Z</dcterms:modified>
</cp:coreProperties>
</file>